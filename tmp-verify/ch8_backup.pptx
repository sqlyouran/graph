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313" r:id="rId3"/>
    <p:sldId id="257" r:id="rId4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</p:sldIdLst>
  <p:sldSz cx="9144000" cy="5147945"/>
  <p:notesSz cx="5147945" cy="9144000"/>
  <p:custDataLst>
    <p:tags r:id="rId6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gs" Target="tags/tag21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[过渡] 8.1 开场。承接第七章——从"听懂"到"记住"，约 10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[P1-P2] 三个问题对应三张卡片：重发→压缩缺失、从零→画像缺失、全塞→预算缺失。收束句：上下文有但没管理。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[P3-P4] 四行对比表。核心收益：减少重复沟通。提醒意图层与生成层是两件事。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[P5-P6] 概念对比表：上下文=菜单，记忆=冰箱。记忆是素材库，上下文是消费者。分清这两件事才能正确定位问题。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[P7b] 这段 prompt 落到三块核心：Engine 外层循环 / buildPrompt 四段标记 / Controller+Session。强调 HISTORY 是压缩摘要不是整包 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[P7c] 三步：启后端(DASHSCOPE_API_KEY/8080)→提交杭州三天看SSE→翻PromptDumper日志。印证：历史=压缩摘要、画像=0。token 数是估算不是账单。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[P8] 路线图四节。套路不变：判据→方案→Prompt→代码。提醒"四把刀"（工具/编排）是第九章内容。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[收尾] 上下文=菜单，记忆=冰箱。三个问题→两个缺口。下一节进入上下文工程实操。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[过渡] 本节约 21 分钟。核心问题：token 预算有限，怎么决定放什么、放在哪、什么时候扔。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[P1-P2] 三个理由：预算有限、中段注意力衰减、成本按长度乘轮次。
第一性原则：不改变输出就不放。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[P3] 四分区：指令&gt;约束&gt;历史&gt;画像。淘汰顺序从低到高砍。
越接近这一次的硬约束越不能动。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[P4] 指令区压了会破坏输出契约，约束区砍了等于功能 bug。
固定前缀还能命中缓存。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[P5] 两个独立决策：分区优先级决定放不放，物理顺序决定排在哪。
首尾效应：关键信息占两端，可牺牲的放中段。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[P6] 四种手段从轻到重：选择性注入、摘要替代、滑动窗口、结构化替代。
终点是结构化数据。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[P7] 续修场景的最小必要上下文：指令/约束/历史摘要/画像(空)。固定回放：首轮 357、续修 486，只代表课程样例。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[P8] 预算 6000 是单页尺子，别跟第六章 20000 总账护栏混。ceil(len/1.5) 一定不准，预留 15% → 5100 可用。只量文本，不含 tool schema。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[P9a] Prompt R 全文。关键约束：不调模型做摘要、记录被砍了什么、不改 Engine。
组装顺序固定：指令→约束→摘要→画像→复述。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[P9b] 三个约束逐条讲为什么必须显式说：模型默认会调 LLM 做摘要、静默丢弃、改 Engine。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[P10] 淘汰级联代码：全放→去画像→压历史。dropped 列表记录每次取舍。
指令/约束/返工永远不淘汰。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[P11 真实演示] 两遍跑：正常预算(dropped空) vs 紧预算(dropped=profile/history-detail)。对比 PromptDumper 日志看淘汰级联。CONTEXT_ASSEMBLED 是 ch8 第一个新事件。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[小结] 四分区优先级 + 四种压缩 + ContextAssembler。
带走的能力：预算和淘汰策略。下一节讲记忆。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[过渡] 8.3 开场。本节是全章最长节（~22min）。核心：四层记忆各有生死，偏好学习需要显式晋升门槛。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[P1] 四层全景表。工作记忆=当前轮、会话记忆=当前会话、用户记忆=跨会话、系统知识=全局。关键：会话记忆是用户记忆的原材料。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[P2-P3] 四层淘汰方式各不同。两层的问题：归短期丢偏好，归长期污染画像。核心：晋升需要显式条件。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[P4] 冷启动问题。新用户画像为空→系统知识层兜底。群体先验不能混进用户记忆，否则删除时分不清是偏好还是默认值。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[P5-P6] 核心问题：一次性场景别永久化。三条判据：频次≥3会话、方向一致、上下文一起确认。核心：确认前不写入。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[P7-P8] 偏好多了不能全塞：按字段相关性、条件匹配、时间新鲜度三维打分，加权取前8条。不挑=白学。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[P9] 偏好冲突：本次显式约束&gt;历史画像，靠分区顺序而非仲裁器。画像内部矛盾在写入时就不该允许→删除是一等公民。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[P10-P11] 意图错=即时可见，记忆错=长期隐性。三种策略：隐式推断、显式确认、带条件标签。核心：忘不掉比记不住更危险。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[P12] 三件套：可解释、可查看、可删除。落地靠 provenance 字段。偏好是个人数据，需支持导出/清空/关闭，操作打审计日志。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[P14] Prompt S 全文。承接 S1 PromptDumper + S2 ContextAssembler。关键指令：RevisionRecord→汇总→晋升判据→用户确认→写入画像。90天衰减+审计日志。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[P15-P16 讲师指引] 1) 打开 PreferenceLearner.java→analyze()，讲汇总逻辑，强调频次不足也保留。2) 打开 PromotionPolicy.java→evaluate()，讲四个分支对应三条判据。3) 点明 Engine 不管记忆，记忆在 Prompt 边界注入。课堂不展开 stream 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[P17a] 四层记忆对应真实文件：L1=SSE里的PLAN_GENERATED(problems/score)，L2=VERSION_SAVED(requestDiff)，L3=profiles/{userId}.json，L4=Prompt模板/配置。先发一个请求看四层，再做偏好演示。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[P17 真实演示] 连续四次会话看偏好生命周期：1-2 次 WAIT 观察；第 3 次 CONFIRM→点确认→写入 profiles JSON；第 4 次验证画像进入 CONTEXT_ASSEMBLED + 相反修改删除旧偏好。全程真实请求，不用脚本。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[收尾] 四层记忆+三条判据+相关性召回+三件套。核心能力：设计晋升门槛和遗忘策略。下一节进入测试评测。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[过渡] 8.4 开场。验证分两拨：AI 评测量正确性，人工评测验感受。约 14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[P1] 记忆故障三类：记错了、忘太早、忘不掉。核心难点：跨会话才暴露。验证手段必须分两拨。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[P2] 两拨验证对比：AI 管正确性（记/忘/隔离），人管感受（舒服/配合/可信）。原则：能算的不交给人。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[P3] 八维度：上下文组装2个（丢弃顺序、可追溯）+ 记忆6个（晋升、衰减、条件、覆盖、隔离、命中率）。成对断言是关键。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[P4] 评测集构造：50画像×3请求=150条。三类请求：命中/无关/覆盖。陷阱：userId 隔离、评测不进 CI。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[P5-P6] Prompt T 全文：8个评测维度的自动化实现。前7维度是硬门槛100%，第8维度是软指标看趋势。Judge 跑3次取多数票。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[P6b 真实演示] 当场跑评测看报告三件事：1) 前7维度应全100%，不是就当场排查；2) 第8维度看命中率80-90%和judge投票明细；3) 找2:1分歧用例讲多数票。以实际结果为准。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[P7-P8] 人工评测三维度：被记住的感受、覆盖时态度、解释可信度。演示故事线9步。原则：显式优先于隐式。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[P9] 三段设计原则：被记住（迟钝一点）、覆盖态度（立刻配合）、恢复信任（可解释性）。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[收尾] 两拨验证：AI 八维度 + 人工三维度。150条用例跨会话模拟。成对断言是基本功。下一节：本章小结。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[过渡] 8.5 本章小结。约 16 分钟。回顾全章能力层次、判据、交付物，预告第九章。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[P1] 五层能力表。方向变化：3-6章正确性→7章引入人→8章从人那里学。每一次交互留下痕迹。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[P2] 进化≠微调/RLHF，是通过偏好闭环让系统越用越好。闭环：修改→偏好→画像→注入→更贴合→修改更少。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[P3-P4] 六器官增量表。第八章新增：UserProfile、ContextAssembler、3个事件、晋升三判据、偏好→下次prompt。本质：接上反馈路径。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[P5] 上下文工程4条判据 + 记忆管理4条判据。核心：值不值得放看会不会改变输出；记忆不是越多越好是越准越好。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[P6] 四张验证判据卡片。最危险的错：该忘的没忘。第二种错误用户感知不到。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[P7] 交付物账单。四组统计数字 + 四项核心交付。每个数字背后都有判据。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[P8] 从第5章贯穿到第8章的元原则。判据可争论，实现难回退。先定判据成本是一次会议，后定判据成本是一次重构。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[P9] 三个缺口：效率与结构、智能维度、生产维度。下一章先解决第一个：并行与图结构。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[End] 课后思考题：临时vs长期的判据。收束：第七章安全插手→第八章从插手中学习。记忆只是手段，进化才是效果。第九章见。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0" y="3332152"/>
            <a:ext cx="9142810" cy="68690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3" name="TextBox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9489" y="3470007"/>
            <a:ext cx="322178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algn="ctr"/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Freeform 5"/>
          <p:cNvSpPr/>
          <p:nvPr>
            <p:custDataLst>
              <p:tags r:id="rId3"/>
            </p:custDataLst>
          </p:nvPr>
        </p:nvSpPr>
        <p:spPr bwMode="auto">
          <a:xfrm rot="1855731">
            <a:off x="3071186" y="758478"/>
            <a:ext cx="480168" cy="43292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6" name="Freeform 5"/>
          <p:cNvSpPr/>
          <p:nvPr>
            <p:custDataLst>
              <p:tags r:id="rId4"/>
            </p:custDataLst>
          </p:nvPr>
        </p:nvSpPr>
        <p:spPr bwMode="auto">
          <a:xfrm rot="1855731">
            <a:off x="4061994" y="708244"/>
            <a:ext cx="256127" cy="230927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7" name="Freeform 5"/>
          <p:cNvSpPr/>
          <p:nvPr>
            <p:custDataLst>
              <p:tags r:id="rId5"/>
            </p:custDataLst>
          </p:nvPr>
        </p:nvSpPr>
        <p:spPr bwMode="auto">
          <a:xfrm rot="1855731">
            <a:off x="2331235" y="904140"/>
            <a:ext cx="254888" cy="229810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8" name="Freeform 5"/>
          <p:cNvSpPr/>
          <p:nvPr>
            <p:custDataLst>
              <p:tags r:id="rId6"/>
            </p:custDataLst>
          </p:nvPr>
        </p:nvSpPr>
        <p:spPr bwMode="auto">
          <a:xfrm rot="1855731">
            <a:off x="4769497" y="873884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29" name="Freeform 5"/>
          <p:cNvSpPr/>
          <p:nvPr>
            <p:custDataLst>
              <p:tags r:id="rId7"/>
            </p:custDataLst>
          </p:nvPr>
        </p:nvSpPr>
        <p:spPr bwMode="auto">
          <a:xfrm rot="1855731">
            <a:off x="5615878" y="777220"/>
            <a:ext cx="173846" cy="156742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C00000"/>
          </a:soli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sp>
        <p:nvSpPr>
          <p:cNvPr id="30" name="Freeform 5"/>
          <p:cNvSpPr/>
          <p:nvPr>
            <p:custDataLst>
              <p:tags r:id="rId8"/>
            </p:custDataLst>
          </p:nvPr>
        </p:nvSpPr>
        <p:spPr bwMode="auto">
          <a:xfrm rot="1855731">
            <a:off x="6314536" y="809661"/>
            <a:ext cx="341132" cy="30756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gradFill>
            <a:gsLst>
              <a:gs pos="0">
                <a:srgbClr val="D3D3D3"/>
              </a:gs>
              <a:gs pos="100000">
                <a:srgbClr val="F9F9F9"/>
              </a:gs>
            </a:gsLst>
            <a:lin ang="21594000" scaled="0"/>
          </a:gradFill>
          <a:ln w="12700" cap="flat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p>
            <a:endParaRPr lang="zh-CN" altLang="en-US" sz="1350">
              <a:latin typeface="Meiryo" panose="020B0604030504040204" pitchFamily="34" charset="-128"/>
              <a:ea typeface="方正兰亭黑简体" panose="02000000000000000000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481845" y="2705699"/>
            <a:ext cx="2108646" cy="1901183"/>
            <a:chOff x="3720691" y="2824413"/>
            <a:chExt cx="1341120" cy="1209172"/>
          </a:xfrm>
        </p:grpSpPr>
        <p:sp>
          <p:nvSpPr>
            <p:cNvPr id="32" name="Freeform 5"/>
            <p:cNvSpPr/>
            <p:nvPr>
              <p:custDataLst>
                <p:tags r:id="rId9"/>
              </p:custDataLst>
            </p:nvPr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  <p:sp>
          <p:nvSpPr>
            <p:cNvPr id="33" name="Freeform 5"/>
            <p:cNvSpPr/>
            <p:nvPr>
              <p:custDataLst>
                <p:tags r:id="rId10"/>
              </p:custDataLst>
            </p:nvPr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>
                    <a:lumMod val="50000"/>
                    <a:lumOff val="50000"/>
                  </a:srgbClr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 dirty="0"/>
            </a:p>
          </p:txBody>
        </p:sp>
      </p:grpSp>
      <p:grpSp>
        <p:nvGrpSpPr>
          <p:cNvPr id="35" name="71"/>
          <p:cNvGrpSpPr/>
          <p:nvPr>
            <p:custDataLst>
              <p:tags r:id="rId11"/>
            </p:custDataLst>
          </p:nvPr>
        </p:nvGrpSpPr>
        <p:grpSpPr>
          <a:xfrm>
            <a:off x="751840" y="1530985"/>
            <a:ext cx="7701915" cy="1397000"/>
            <a:chOff x="4304043" y="1286668"/>
            <a:chExt cx="3837944" cy="2757793"/>
          </a:xfrm>
          <a:effectLst>
            <a:outerShdw blurRad="203200" dist="1524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6" name="72"/>
            <p:cNvSpPr/>
            <p:nvPr>
              <p:custDataLst>
                <p:tags r:id="rId12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37" name="73"/>
            <p:cNvSpPr/>
            <p:nvPr>
              <p:custDataLst>
                <p:tags r:id="rId13"/>
              </p:custDataLst>
            </p:nvPr>
          </p:nvSpPr>
          <p:spPr>
            <a:xfrm>
              <a:off x="4351930" y="1373339"/>
              <a:ext cx="3764602" cy="2584451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38" name="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22985" y="1743393"/>
            <a:ext cx="7137400" cy="159131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indent="0" algn="ctr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上下文</a:t>
            </a:r>
            <a:r>
              <a:rPr lang="zh-CN" altLang="en-US" sz="3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与</a:t>
            </a:r>
            <a:r>
              <a:rPr lang="en-US" sz="3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记忆</a:t>
            </a:r>
            <a:r>
              <a:rPr lang="zh-CN" altLang="en-US" sz="3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管理</a:t>
            </a:r>
            <a:endParaRPr lang="en-US" sz="30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0" indent="0" algn="ctr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从"记得住这一次"到"记得住这个人"</a:t>
            </a:r>
            <a:endParaRPr lang="en-US" sz="30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lnSpc>
                <a:spcPts val="3900"/>
              </a:lnSpc>
              <a:buNone/>
            </a:pPr>
            <a:endParaRPr lang="en-US" sz="30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8" name="圆角矩形"/>
          <p:cNvSpPr/>
          <p:nvPr>
            <p:custDataLst>
              <p:tags r:id="rId15"/>
            </p:custDataLst>
          </p:nvPr>
        </p:nvSpPr>
        <p:spPr>
          <a:xfrm>
            <a:off x="3645079" y="3421187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endParaRPr lang="zh-CN" altLang="en-US" sz="3000" b="1" u="none" strike="noStrike" kern="1200" cap="none" spc="0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3" name="TextBox 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59830" y="3482658"/>
            <a:ext cx="173799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DK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"/>
          <p:cNvSpPr/>
          <p:nvPr>
            <p:custDataLst>
              <p:tags r:id="rId17"/>
            </p:custDataLst>
          </p:nvPr>
        </p:nvSpPr>
        <p:spPr>
          <a:xfrm>
            <a:off x="3645079" y="3421187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endParaRPr lang="zh-CN" altLang="en-US" sz="30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2" name="圆角矩形"/>
          <p:cNvSpPr/>
          <p:nvPr>
            <p:custDataLst>
              <p:tags r:id="rId18"/>
            </p:custDataLst>
          </p:nvPr>
        </p:nvSpPr>
        <p:spPr>
          <a:xfrm>
            <a:off x="3645079" y="3477702"/>
            <a:ext cx="1799927" cy="458786"/>
          </a:xfrm>
          <a:prstGeom prst="roundRect">
            <a:avLst>
              <a:gd name="adj" fmla="val 16666"/>
            </a:avLst>
          </a:prstGeom>
          <a:noFill/>
          <a:ln w="38100" cap="flat" cmpd="sng">
            <a:noFill/>
            <a:prstDash val="solid"/>
            <a:round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3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记忆管理</a:t>
            </a:r>
            <a:endParaRPr lang="zh-CN" altLang="en-US" sz="3000" b="1" dirty="0">
              <a:solidFill>
                <a:srgbClr val="C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7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"/>
                            </p:stCondLst>
                            <p:childTnLst>
                              <p:par>
                                <p:cTn id="5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750"/>
                            </p:stCondLst>
                            <p:childTnLst>
                              <p:par>
                                <p:cTn id="6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5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utoUpdateAnimBg="0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8" grpId="0"/>
      <p:bldP spid="18" grpId="0" bldLvl="0" animBg="1"/>
      <p:bldP spid="3" grpId="0" bldLvl="0" autoUpdateAnimBg="0"/>
      <p:bldP spid="4" grpId="0" bldLvl="0" animBg="1"/>
      <p:bldP spid="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970" y="2011680"/>
            <a:ext cx="915797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为什么需要上下文与记忆管理：所有东西塞进 prompt行不通</a:t>
            </a:r>
            <a:endParaRPr lang="en-US" sz="24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第七章之后还剩三个问题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22960"/>
            <a:ext cx="2633472" cy="21945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22960"/>
            <a:ext cx="36576" cy="21945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Shape 3"/>
          <p:cNvSpPr/>
          <p:nvPr/>
        </p:nvSpPr>
        <p:spPr>
          <a:xfrm>
            <a:off x="594360" y="932688"/>
            <a:ext cx="256032" cy="256032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6" name="Text 4"/>
          <p:cNvSpPr/>
          <p:nvPr/>
        </p:nvSpPr>
        <p:spPr>
          <a:xfrm>
            <a:off x="594360" y="9326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上一版整包重发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2414016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能续修，但上下文越来越重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缺：选择和压缩策略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822960"/>
            <a:ext cx="2633472" cy="21945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Shape 8"/>
          <p:cNvSpPr/>
          <p:nvPr/>
        </p:nvSpPr>
        <p:spPr>
          <a:xfrm>
            <a:off x="3255264" y="822960"/>
            <a:ext cx="36576" cy="2194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Shape 9"/>
          <p:cNvSpPr/>
          <p:nvPr/>
        </p:nvSpPr>
        <p:spPr>
          <a:xfrm>
            <a:off x="3364992" y="932688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3364992" y="9326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126187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第五次还从零开始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36192"/>
            <a:ext cx="2414016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系统不认识回头客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缺：跨会话偏好记录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822960"/>
            <a:ext cx="2633472" cy="21945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6025896" y="822960"/>
            <a:ext cx="36576" cy="21945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Shape 15"/>
          <p:cNvSpPr/>
          <p:nvPr/>
        </p:nvSpPr>
        <p:spPr>
          <a:xfrm>
            <a:off x="6135624" y="932688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8" name="Text 16"/>
          <p:cNvSpPr/>
          <p:nvPr/>
        </p:nvSpPr>
        <p:spPr>
          <a:xfrm>
            <a:off x="6135624" y="9326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26187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新记忆继续全塞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5624" y="1536192"/>
            <a:ext cx="2414016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长度上涨、重点被淹没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缺：预算与淘汰顺序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" y="324612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2" name="Text 20"/>
          <p:cNvSpPr/>
          <p:nvPr/>
        </p:nvSpPr>
        <p:spPr>
          <a:xfrm>
            <a:off x="484632" y="324612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第七章让系统听懂了"这一句"，这一章让系统记得住"这个人"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4" name="Text 22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它不是完全没有上下文，而是上下文还没有被管理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有了上下文与记忆管理之后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84632" y="804672"/>
          <a:ext cx="8174736" cy="210312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877056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没有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有了之后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多轮续修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上一版全文重发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结构化摘要 + 返工意见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个性化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每次重新声明偏好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系统已知偏好，默认匹配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多说一遍 = 多烧一轮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省掉澄清轮次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信任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"每次像跟新客服讲一遍"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"它记得我上次的选择"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3337560"/>
            <a:ext cx="8174736" cy="54864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3" name="Shape 2"/>
          <p:cNvSpPr/>
          <p:nvPr/>
        </p:nvSpPr>
        <p:spPr>
          <a:xfrm>
            <a:off x="484632" y="3337560"/>
            <a:ext cx="45720" cy="5486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3"/>
          <p:cNvSpPr/>
          <p:nvPr/>
        </p:nvSpPr>
        <p:spPr>
          <a:xfrm>
            <a:off x="685800" y="333756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归根到底是一条：</a:t>
            </a: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减少用户和系统之间重复沟通的次数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意图层和生成层是前后两站，不要混在一起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 vs 记忆 · 先把概念分清楚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84632" y="804672"/>
          <a:ext cx="8174736" cy="2414016"/>
        </p:xfrm>
        <a:graphic>
          <a:graphicData uri="http://schemas.openxmlformats.org/drawingml/2006/table">
            <a:tbl>
              <a:tblPr/>
              <a:tblGrid>
                <a:gridCol w="1463040"/>
                <a:gridCol w="3355848"/>
                <a:gridCol w="3355848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上下文 Context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记忆 Memory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回答什么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"这次 prompt 里放什么"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"跨次/跨会话保存什么"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生命周期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一次请求（组装完即消费）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持久化（有淘汰策略）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核心约束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 预算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 + 检索成本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主要操作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选择、压缩、排序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写入、晋升、遗忘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类比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今天这顿饭的菜单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冰箱里的食材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342900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2"/>
          <p:cNvSpPr/>
          <p:nvPr/>
        </p:nvSpPr>
        <p:spPr>
          <a:xfrm>
            <a:off x="484632" y="342900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记忆是上下文的素材库，上下文是记忆的消费者</a:t>
            </a:r>
            <a:endParaRPr lang="en-US" sz="1250" dirty="0"/>
          </a:p>
        </p:txBody>
      </p:sp>
      <p:sp>
        <p:nvSpPr>
          <p:cNvPr id="3" name="Shape 3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7" name="Text 4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分清"存了没有"和"取了没有"，是定位问题的第一步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实现落到项目哪三块核心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22960"/>
            <a:ext cx="2633472" cy="2286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22960"/>
            <a:ext cx="36576" cy="22860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Shape 3"/>
          <p:cNvSpPr/>
          <p:nvPr/>
        </p:nvSpPr>
        <p:spPr>
          <a:xfrm>
            <a:off x="594360" y="932688"/>
            <a:ext cx="256032" cy="256032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6" name="Text 4"/>
          <p:cNvSpPr/>
          <p:nvPr/>
        </p:nvSpPr>
        <p:spPr>
          <a:xfrm>
            <a:off x="594360" y="9326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TravelPlanningEngine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241401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外层 Loop 的心脏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plan()→runLoop() 的 for 轮次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这一章动的是"打包材料"这步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822960"/>
            <a:ext cx="2633472" cy="2286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Shape 8"/>
          <p:cNvSpPr/>
          <p:nvPr/>
        </p:nvSpPr>
        <p:spPr>
          <a:xfrm>
            <a:off x="3255264" y="822960"/>
            <a:ext cx="36576" cy="22860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1" name="Shape 9"/>
          <p:cNvSpPr/>
          <p:nvPr/>
        </p:nvSpPr>
        <p:spPr>
          <a:xfrm>
            <a:off x="3364992" y="932688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3364992" y="9326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126187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PlanChatService.buildPrompt()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36192"/>
            <a:ext cx="241401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 prompt 在这拼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四段标记：INSTRUCTION /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CONSTRAINT / HISTORY / PROFILE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822960"/>
            <a:ext cx="2633472" cy="22860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6025896" y="822960"/>
            <a:ext cx="36576" cy="2286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7" name="Shape 15"/>
          <p:cNvSpPr/>
          <p:nvPr/>
        </p:nvSpPr>
        <p:spPr>
          <a:xfrm>
            <a:off x="6135624" y="932688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6135624" y="9326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26187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PlanController + Session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5624" y="1536192"/>
            <a:ext cx="241401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 /api/plan/ask→202+sessionId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推事件；Session 存本次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events/versions，跨会话画像还没有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" y="333756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2" name="Text 20"/>
          <p:cNvSpPr/>
          <p:nvPr/>
        </p:nvSpPr>
        <p:spPr>
          <a:xfrm>
            <a:off x="484632" y="333756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HISTORY 现在还是上一版整包 JSON——先把欠账晒出来，下一节再还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4" name="Text 22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实现完，当场跑一遍看效果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50392"/>
            <a:ext cx="274320" cy="274320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4" name="Text 2"/>
          <p:cNvSpPr/>
          <p:nvPr/>
        </p:nvSpPr>
        <p:spPr>
          <a:xfrm>
            <a:off x="484632" y="8503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82296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启后端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771753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 backend → mvn compile spring-boot:run；模型 qwen3.8-flash，端口 8080；先设好 DASHSCOPE_API_KEY，没设直接拒启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709928"/>
            <a:ext cx="274320" cy="2743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484632" y="17099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82496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提交"杭州三天"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771753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产品页 localhost:5173 提交，看 SSE 事件逐条推：生成→契约校验→约束校验→反馈准备，外层 Loop 在转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569464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484632" y="256946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542032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翻 PromptDumper 日志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779776"/>
            <a:ext cx="771753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 logs/prompts/{sessionId}-{round}.txt 末尾的分区报告，现场看总长 / 历史区 / 画像区占比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611880"/>
            <a:ext cx="8174736" cy="8229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484632" y="3611880"/>
            <a:ext cx="45720" cy="8229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67512" y="370332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当场印证两件事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3959352"/>
            <a:ext cx="780897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历史区续修轮带的还是上一版整包 JSON——这笔账下一节还；② 画像区现在是 0——跨会话记忆要到第三节才接进来。重点不是某个漂亮数字，而是从此每次取舍有账可查。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0" name="Text 18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记录的是交给 ChatClient 的文本，不含 tool schema，不等于供应商精确账单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本章路线图 · 两个缺口四节补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50392"/>
            <a:ext cx="274320" cy="274320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4" name="Text 2"/>
          <p:cNvSpPr/>
          <p:nvPr/>
        </p:nvSpPr>
        <p:spPr>
          <a:xfrm>
            <a:off x="484632" y="8503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82296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8.2 上下文工程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771753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怎么组装——选什么、压什么、什么顺序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581912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484632" y="158191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8.3 四层记忆 + 偏好学习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792224"/>
            <a:ext cx="771753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跨会话怎么记——存什么、怎么学、什么时候遗忘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313432"/>
            <a:ext cx="274320" cy="2743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484632" y="231343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8.4 测试、评测与验收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23744"/>
            <a:ext cx="771753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记忆系统怎么验——八维自动化评测 + 三维人工感受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044952"/>
            <a:ext cx="274320" cy="27432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16" name="Text 14"/>
          <p:cNvSpPr/>
          <p:nvPr/>
        </p:nvSpPr>
        <p:spPr>
          <a:xfrm>
            <a:off x="484632" y="304495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01752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8.5 本章小结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55264"/>
            <a:ext cx="771753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判据回顾 + 还缺什么 + 下一章预告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3840480"/>
            <a:ext cx="8174736" cy="54864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0" name="Shape 18"/>
          <p:cNvSpPr/>
          <p:nvPr/>
        </p:nvSpPr>
        <p:spPr>
          <a:xfrm>
            <a:off x="484632" y="3840480"/>
            <a:ext cx="45720" cy="5486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1" name="Text 19"/>
          <p:cNvSpPr/>
          <p:nvPr/>
        </p:nvSpPr>
        <p:spPr>
          <a:xfrm>
            <a:off x="685800" y="384048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每一节还是同一个套路：</a:t>
            </a:r>
            <a:r>
              <a:rPr lang="en-US" sz="1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先定判据 → 再做方案 → 再写 Prompt → 最后读代码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3" name="Text 21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四把刀还在排队——那是第九章的活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28600"/>
            <a:ext cx="8174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84632" y="777240"/>
            <a:ext cx="8174736" cy="11887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777240"/>
            <a:ext cx="45720" cy="11887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713232" y="86868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第七章让系统听懂了"这一句"，这一章让系统记得住"这个人"和"刚才那段对话"。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上下文是菜单，记忆是冰箱——分清这两件事，是定位问题的第一步。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" name="Shape 5"/>
          <p:cNvSpPr/>
          <p:nvPr/>
        </p:nvSpPr>
        <p:spPr>
          <a:xfrm>
            <a:off x="484632" y="2194560"/>
            <a:ext cx="393192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621792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回到主线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三个问题（整包重发 / 从零开始 / 继续全塞）指向两个缺口：prompt 缺预算管理，跨会话缺用户画像。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Shape 9"/>
          <p:cNvSpPr/>
          <p:nvPr/>
        </p:nvSpPr>
        <p:spPr>
          <a:xfrm>
            <a:off x="4727448" y="2194560"/>
            <a:ext cx="3931920" cy="3657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864608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你带走的能力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会区分上下文和记忆：一个管"这次带什么"，一个管"跨次存什么"。分清了才能在出错时定位到正确的层。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5" name="Text 13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下一节：Prompt 四分区 + 优先级 + 压缩策略 + ContextAssembler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011680"/>
            <a:ext cx="811987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上下文工程</a:t>
            </a:r>
            <a:r>
              <a:rPr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——</a:t>
            </a: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里该放什么、怎么放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为什么不能"全塞进去"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8288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Shape 3"/>
          <p:cNvSpPr/>
          <p:nvPr/>
        </p:nvSpPr>
        <p:spPr>
          <a:xfrm>
            <a:off x="594360" y="914400"/>
            <a:ext cx="256032" cy="256032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6" name="Text 4"/>
          <p:cNvSpPr/>
          <p:nvPr/>
        </p:nvSpPr>
        <p:spPr>
          <a:xfrm>
            <a:off x="594360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单次也需要预算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241401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长度跟天数/活动/反馈有关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组装器必须知道上限和淘汰顺序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804672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Shape 8"/>
          <p:cNvSpPr/>
          <p:nvPr/>
        </p:nvSpPr>
        <p:spPr>
          <a:xfrm>
            <a:off x="3255264" y="804672"/>
            <a:ext cx="36576" cy="1828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Shape 9"/>
          <p:cNvSpPr/>
          <p:nvPr/>
        </p:nvSpPr>
        <p:spPr>
          <a:xfrm>
            <a:off x="3364992" y="914400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3364992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信息太多反而抓不住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17904"/>
            <a:ext cx="241401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Lost in the Middle (Liu 2023)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越长，中段越危险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804672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6025896" y="804672"/>
            <a:ext cx="36576" cy="18288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Shape 15"/>
          <p:cNvSpPr/>
          <p:nvPr/>
        </p:nvSpPr>
        <p:spPr>
          <a:xfrm>
            <a:off x="6135624" y="914400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8" name="Text 16"/>
          <p:cNvSpPr/>
          <p:nvPr/>
        </p:nvSpPr>
        <p:spPr>
          <a:xfrm>
            <a:off x="6135624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钱和时间跟长度走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5624" y="1517904"/>
            <a:ext cx="241401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 Loop 反复发送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冗余按轮次重复支付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" y="288036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2" name="Text 20"/>
          <p:cNvSpPr/>
          <p:nvPr/>
        </p:nvSpPr>
        <p:spPr>
          <a:xfrm>
            <a:off x="484632" y="288036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一条信息值不值得放进 prompt，看它会不会改变模型这一次的输出。不改变就不放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4" name="Text 22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这是上下文工程的第一性原则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四分区与优先级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84632" y="804672"/>
          <a:ext cx="8174736" cy="210312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914400"/>
                <a:gridCol w="3236976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分区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装什么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优先级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淘汰规则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指令区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系统角色 + 输出要求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最高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永不淘汰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约束区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budget/days/mustVisit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永不淘汰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历史区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上一版摘要 + 返工意见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超预算时压缩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画像区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用户长期偏好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超预算时优先丢弃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3200400"/>
            <a:ext cx="8174736" cy="4114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5" name="Shape 2"/>
          <p:cNvSpPr/>
          <p:nvPr/>
        </p:nvSpPr>
        <p:spPr>
          <a:xfrm>
            <a:off x="484632" y="3200400"/>
            <a:ext cx="45720" cy="4114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3"/>
          <p:cNvSpPr/>
          <p:nvPr/>
        </p:nvSpPr>
        <p:spPr>
          <a:xfrm>
            <a:off x="685800" y="320040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越接近"这一次的硬约束"优先级越高，越是"历史推断"越低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先砍画像，再压历史，指令和约束永远不动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指令区 · 固定前缀永不压缩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914400"/>
            <a:ext cx="3931920" cy="164592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" name="Shape 2"/>
          <p:cNvSpPr/>
          <p:nvPr/>
        </p:nvSpPr>
        <p:spPr>
          <a:xfrm>
            <a:off x="484632" y="914400"/>
            <a:ext cx="36576" cy="1645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621792" y="10058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压了会怎样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280160"/>
            <a:ext cx="36576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破坏输出契约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模型可能返回无法解析的内容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下一轮仍要返工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914400"/>
            <a:ext cx="3931920" cy="164592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8" name="Shape 6"/>
          <p:cNvSpPr/>
          <p:nvPr/>
        </p:nvSpPr>
        <p:spPr>
          <a:xfrm>
            <a:off x="4599432" y="914400"/>
            <a:ext cx="36576" cy="164592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9" name="Text 7"/>
          <p:cNvSpPr/>
          <p:nvPr/>
        </p:nvSpPr>
        <p:spPr>
          <a:xfrm>
            <a:off x="4736592" y="10058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固定的好处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280160"/>
            <a:ext cx="36576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稳定前缀可命中缓存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更容易对账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不要塞时间戳等动态内容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697480"/>
            <a:ext cx="8174736" cy="8686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484632" y="2697480"/>
            <a:ext cx="45720" cy="8686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3" name="Text 11"/>
          <p:cNvSpPr/>
          <p:nvPr/>
        </p:nvSpPr>
        <p:spPr>
          <a:xfrm>
            <a:off x="667512" y="278892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约束区同样不能砍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3044952"/>
            <a:ext cx="7808976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用户说"必去雷峰塔"你把它丢了 → 功能性 bug，验证器拦住再跑一轮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你以为省了 token，其实多花了一整轮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70332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484632" y="370332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淘汰顺序：先砍画像 → 再压历史 → 指令和约束永远不动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砍掉约束不是省 token，是多花一整轮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放在哪 · 位置效应与物理排布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84632" y="804672"/>
          <a:ext cx="8174736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145536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决定什么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分区优先级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放不放、超预算先砍谁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会不会改变这一次的输出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物理顺序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排在哪个位置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越关键越靠首尾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2194560"/>
            <a:ext cx="8174736" cy="1463040"/>
          </a:xfrm>
          <a:prstGeom prst="rect">
            <a:avLst/>
          </a:prstGeom>
          <a:solidFill>
            <a:srgbClr val="1E1E2E"/>
          </a:solidFill>
        </p:spPr>
      </p:sp>
      <p:sp>
        <p:nvSpPr>
          <p:cNvPr id="5" name="Text 2"/>
          <p:cNvSpPr/>
          <p:nvPr/>
        </p:nvSpPr>
        <p:spPr>
          <a:xfrm>
            <a:off x="621792" y="2304288"/>
            <a:ext cx="7900416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[1] 指令区   ← 最前面，固定前缀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[2] 约束区   ← 紧跟指令，硬需求要早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[3] 历史区   ← 居中，最能牺牲的放最差位置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[4] 画像区   ← 靠后，条数少每条都相关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[5] 任务复述 ← 收尾，有意重复硬约束
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7" name="Text 4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关键约束占头尾两端，可牺牲的历史让给中段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四种压缩手段 · 从轻到重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50392"/>
            <a:ext cx="274320" cy="274320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4" name="Text 2"/>
          <p:cNvSpPr/>
          <p:nvPr/>
        </p:nvSpPr>
        <p:spPr>
          <a:xfrm>
            <a:off x="484632" y="8503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82296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选择性注入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771753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本次已写死的字段不再被画像覆盖，条件不匹配的不进来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673352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484632" y="167335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摘要替代原文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83664"/>
            <a:ext cx="771753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 JSON → 结构化摘要（航班/酒店/景点）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496312"/>
            <a:ext cx="274320" cy="2743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484632" y="249631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46888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滑动窗口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706624"/>
            <a:ext cx="771753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只保留最近 N 轮，当前项目天然只带"上一版"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319272"/>
            <a:ext cx="274320" cy="27432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16" name="Text 14"/>
          <p:cNvSpPr/>
          <p:nvPr/>
        </p:nvSpPr>
        <p:spPr>
          <a:xfrm>
            <a:off x="484632" y="331927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29184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结构化替代自然语言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529584"/>
            <a:ext cx="7717536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散文有歧义 → 键值对：更精确、可寻址、短一半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402336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0" name="Text 18"/>
          <p:cNvSpPr/>
          <p:nvPr/>
        </p:nvSpPr>
        <p:spPr>
          <a:xfrm>
            <a:off x="484632" y="402336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压缩的终点不是"更短的话"，是"更结构化的数据"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2" name="Text 20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 = 更精确 + 可寻址 + 短一半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一次续修 · 模型真正需要什么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777240"/>
            <a:ext cx="8174736" cy="4572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777240"/>
            <a:ext cx="45720" cy="4572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685800" y="77724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场景：</a:t>
            </a:r>
            <a:r>
              <a:rPr lang="en-US" sz="11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用户确认"预算改到 2600、雷峰塔保留" → 意图层转成新 PlanRequest，才进规划 Loop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84632" y="1371600"/>
          <a:ext cx="8174736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6803136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分区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这一轮真正要装什么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指令区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系统角色 + 事实纪律 + 输出要求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约束区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新预算 / 天数 / 目的地 / 必去景点 + 上轮必改项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历史区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上一版选中的航班·酒店·景点摘要，不发完整 dailyPlans JSON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画像区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本次为空——第三节才接入真实用户画像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84632" y="3429000"/>
            <a:ext cx="8174736" cy="7772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" name="Shape 5"/>
          <p:cNvSpPr/>
          <p:nvPr/>
        </p:nvSpPr>
        <p:spPr>
          <a:xfrm>
            <a:off x="484632" y="3429000"/>
            <a:ext cx="45720" cy="77724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9" name="Text 6"/>
          <p:cNvSpPr/>
          <p:nvPr/>
        </p:nvSpPr>
        <p:spPr>
          <a:xfrm>
            <a:off x="667512" y="352044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固定回放实测（仅代表课程样例）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" y="3776472"/>
            <a:ext cx="7808976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首轮 ≈ 416 token；带上一版摘要 + 两条返工意见的续修轮 ≈ 645 token。价值不在数字本身，而在——现在可以量、可以比、也知道哪一段被丢了。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2" name="Text 9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上下文工程的本质不是"放得多"，是"每一个 token 都在干活"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预算从哪来 · 量错往哪边错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22960"/>
            <a:ext cx="3931920" cy="137160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" name="Shape 2"/>
          <p:cNvSpPr/>
          <p:nvPr/>
        </p:nvSpPr>
        <p:spPr>
          <a:xfrm>
            <a:off x="484632" y="822960"/>
            <a:ext cx="36576" cy="13716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621792" y="9144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max-tokens = 6000 · 单页的尺子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looptrip.context.max-tokens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管单次 prompt 能组装多长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ContextAssembler 的排版尺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822960"/>
            <a:ext cx="3931920" cy="13716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8" name="Shape 6"/>
          <p:cNvSpPr/>
          <p:nvPr/>
        </p:nvSpPr>
        <p:spPr>
          <a:xfrm>
            <a:off x="4599432" y="822960"/>
            <a:ext cx="36576" cy="1371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Text 7"/>
          <p:cNvSpPr/>
          <p:nvPr/>
        </p:nvSpPr>
        <p:spPr>
          <a:xfrm>
            <a:off x="4736592" y="9144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max-tokens = 20000 · 总账护栏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188720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第六章那一个，别搞混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管整次规划累计烧多少钱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一个管总账，一个管单页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377440"/>
            <a:ext cx="8174736" cy="10972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484632" y="2377440"/>
            <a:ext cx="45720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667512" y="246888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怎么量、为什么不能塞满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2724912"/>
            <a:ext cx="7808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ceil(content.length()/1.5) 估算——中文·JSON·英文混排没有稳定系数，一定不准。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统一预留 15% 安全余量：配 6000 时只按 5100 装内容。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这把尺子只量 system/user 文本，不含框架附带的 tool schema，不是供应商精确计费器。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65760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484632" y="365760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粗估值必须配安全余量——宁可少放一段画像，也不要把单次预算刚好塞满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不要把粗估值当精确上限：固定 1.5 系数 + 额外 15% 缓冲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R · 实现上下文组装器 ContextAssembler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505" y="749935"/>
            <a:ext cx="8174990" cy="3800475"/>
          </a:xfrm>
          <a:prstGeom prst="rect">
            <a:avLst/>
          </a:prstGeom>
          <a:solidFill>
            <a:srgbClr val="1E1E2E"/>
          </a:solidFill>
        </p:spPr>
      </p:sp>
      <p:sp>
        <p:nvSpPr>
          <p:cNvPr id="4" name="Text 2"/>
          <p:cNvSpPr/>
          <p:nvPr/>
        </p:nvSpPr>
        <p:spPr>
          <a:xfrm>
            <a:off x="621792" y="859536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A9955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Prompt R · ContextAssembler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7900416" cy="3017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继续改这个旅行规划项目。把 buildPrompt() 改成有预算意识的 ContextAssembler。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组装顺序：固定指令 → 硬约束 → 上一版摘要 → 用户画像 → 末尾复述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系统指令和硬约束不能丢；上一版改成结构化摘要。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上轮返工意见跟硬约束放一起，预算紧也必须保留。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不要调模型做摘要。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先建最小 UserProfile，本节传空画像。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空间不够先不放画像，再降级为最小摘要。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把放了/丢了哪些区段和原因放进 PromptContext。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ContextAssembler 无状态、不读 session、不做 IO；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不要放进 TravelPlanningEngine。
保留第一节的 ### SECTION 分区标记——PromptDumper 的分区统计靠它切段。
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7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已经认识项目了——只需点出它会默认做错的关键约束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R · 三个必须明确说的点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8288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594360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"不要调模型做摘要"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2414016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否则形成递归调用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复杂度和成本不可控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5264" y="804672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" name="Shape 6"/>
          <p:cNvSpPr/>
          <p:nvPr/>
        </p:nvSpPr>
        <p:spPr>
          <a:xfrm>
            <a:off x="3255264" y="804672"/>
            <a:ext cx="36576" cy="1828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3364992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"记录被砍了什么"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4992" y="1188720"/>
            <a:ext cx="2414016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看不见的决策 = 不存在的决策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可观察性延续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25896" y="804672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6025896" y="804672"/>
            <a:ext cx="36576" cy="18288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Text 11"/>
          <p:cNvSpPr/>
          <p:nvPr/>
        </p:nvSpPr>
        <p:spPr>
          <a:xfrm>
            <a:off x="6135624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"不要改 Engine"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5624" y="1188720"/>
            <a:ext cx="2414016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组装在 PlanChatService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更新旧断言契约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2834640"/>
            <a:ext cx="8174736" cy="50292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6" name="Shape 14"/>
          <p:cNvSpPr/>
          <p:nvPr/>
        </p:nvSpPr>
        <p:spPr>
          <a:xfrm>
            <a:off x="484632" y="2834640"/>
            <a:ext cx="45720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7" name="Text 15"/>
          <p:cNvSpPr/>
          <p:nvPr/>
        </p:nvSpPr>
        <p:spPr>
          <a:xfrm>
            <a:off x="685800" y="2834640"/>
            <a:ext cx="7863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这三条不说，AI 默认都会做错：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它会用 LLM 做摘要、静默丢弃、把逻辑塞进 Engine。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9" name="Text 17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约束的价值在于改变 AI 的默认行为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ContextAssembler · 先保什么再丢什么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505" y="749935"/>
            <a:ext cx="8174990" cy="3451860"/>
          </a:xfrm>
          <a:prstGeom prst="rect">
            <a:avLst/>
          </a:prstGeom>
          <a:solidFill>
            <a:srgbClr val="1E1E2E"/>
          </a:solidFill>
        </p:spPr>
      </p:sp>
      <p:sp>
        <p:nvSpPr>
          <p:cNvPr id="4" name="Text 2"/>
          <p:cNvSpPr/>
          <p:nvPr/>
        </p:nvSpPr>
        <p:spPr>
          <a:xfrm>
            <a:off x="621792" y="859536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A9955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ContextAssembler.java — 淘汰级联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7900416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int usableBudget = (int) Math.floor(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tokenBudget * (1 - safetyMargin));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569CD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if (!fits(constraint, history, profileText, tail, usableBudget)) {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dropped.add(new DroppedSection("profile", "剩余预算不足"));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profileText = "";
</a:t>
            </a:r>
            <a:r>
              <a:rPr lang="en-US" sz="950" dirty="0">
                <a:solidFill>
                  <a:srgbClr val="569CD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// 首轮没有历史区，第二级级联无从发生，不误报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if (!history.isEmpty() &amp;&amp; !fits(constraint, history,
</a:t>
            </a:r>
            <a:r>
              <a:rPr lang="en-US" sz="950" dirty="0">
                <a:solidFill>
                  <a:srgbClr val="6A9955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    profileText, tail, usableBudget)) {
</a:t>
            </a:r>
            <a:r>
              <a:rPr lang="en-US" sz="950" dirty="0">
                <a:solidFill>
                  <a:srgbClr val="569CD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dropped.add(new DroppedSection("history-detail", "超出剩余预算"));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history = minimalHistory;
</a:t>
            </a:r>
            <a:r>
              <a:rPr lang="en-US" sz="950" dirty="0">
                <a:solidFill>
                  <a:srgbClr val="6A9955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}
</a:t>
            </a:r>
            <a:r>
              <a:rPr lang="en-US" sz="950" dirty="0">
                <a:solidFill>
                  <a:srgbClr val="569CD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}
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4632" y="4228465"/>
            <a:ext cx="8174736" cy="50292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7" name="Shape 5"/>
          <p:cNvSpPr/>
          <p:nvPr/>
        </p:nvSpPr>
        <p:spPr>
          <a:xfrm>
            <a:off x="484632" y="4228465"/>
            <a:ext cx="45720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6"/>
          <p:cNvSpPr/>
          <p:nvPr/>
        </p:nvSpPr>
        <p:spPr>
          <a:xfrm>
            <a:off x="685800" y="4228465"/>
            <a:ext cx="7863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重点不是 if，而是顺序：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全放 → 去画像 → 压历史。指令/约束/返工永不淘汰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0" name="Text 8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顺序：组装 → 记事件 → 落盘 → 调用模型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真实演示 · 跑两遍看上下文淘汰级联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50392"/>
            <a:ext cx="274320" cy="2743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4" name="Text 2"/>
          <p:cNvSpPr/>
          <p:nvPr/>
        </p:nvSpPr>
        <p:spPr>
          <a:xfrm>
            <a:off x="484632" y="8503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82296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第一遍：正常预算（max-tokens=6000）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771753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提交"杭州三天" → 看 SSE 里 CONTEXT_ASSEMBLED 事件：includedSections / droppedSections / estimatedTokens / usableBudget。正常预算下 dropped 应为空，included 无 HISTORY（首轮没有上一版）。同时打开 logs/prompts/ 看 PromptDumper 的分区报告。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2176272"/>
            <a:ext cx="274320" cy="274320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8" name="Text 6"/>
          <p:cNvSpPr/>
          <p:nvPr/>
        </p:nvSpPr>
        <p:spPr>
          <a:xfrm>
            <a:off x="484632" y="217627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第二遍：改小预算逼出淘汰（max-tokens=400）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86584"/>
            <a:ext cx="7717536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 application.yml → 重启 → 提交同样请求。400×0.85=340，首轮 416 token 装不下，droppedSections 必现 "profile: 剩余预算不足"；"history-detail: 超出剩余预算" 只在带历史摘要的返工轮出现。对比两次 PromptDumper 日志：指令/约束一直在，画像先丢，历史到返工轮再压缩。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3383280"/>
            <a:ext cx="8174736" cy="7315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484632" y="3383280"/>
            <a:ext cx="45720" cy="73152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3" name="Text 11"/>
          <p:cNvSpPr/>
          <p:nvPr/>
        </p:nvSpPr>
        <p:spPr>
          <a:xfrm>
            <a:off x="667512" y="347472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CONTEXT_ASSEMBLED 事件 · 第八章新增的第一个事件类型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3730752"/>
            <a:ext cx="7808976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includedSections + droppedSections + estimatedTokens + usableBudget → 发生裁剪时能回答"这一轮为什么没带画像"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演示完记得把 max-tokens 改回 6000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28600"/>
            <a:ext cx="8174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84632" y="777240"/>
            <a:ext cx="8174736" cy="11887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777240"/>
            <a:ext cx="45720" cy="11887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713232" y="86868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上下文工程解决的是"这一次放什么"——在 token 预算内组装最有效的 prompt。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指令和约束是底线，历史可以压缩，画像可以丢弃，但每一次取舍都必须被记录。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" name="Shape 5"/>
          <p:cNvSpPr/>
          <p:nvPr/>
        </p:nvSpPr>
        <p:spPr>
          <a:xfrm>
            <a:off x="484632" y="2194560"/>
            <a:ext cx="393192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621792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回到主线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四分区优先级（指令&gt;约束&gt;历史&gt;画像）+ 四种压缩手段 + ContextAssembler 无状态组装。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Shape 9"/>
          <p:cNvSpPr/>
          <p:nvPr/>
        </p:nvSpPr>
        <p:spPr>
          <a:xfrm>
            <a:off x="4727448" y="2194560"/>
            <a:ext cx="3931920" cy="3657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864608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你带走的能力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会设计 prompt 的预算和淘汰策略：一条信息值不值得放，看它改不改变这一次的输出。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5" name="Text 13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下一节：冰箱怎么管——四层记忆 + 偏好学习 + 遗忘机制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12064" y="2011680"/>
            <a:ext cx="811987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四层记忆与偏好学习</a:t>
            </a:r>
            <a:r>
              <a:rPr lang="zh-CN" alt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</a:t>
            </a: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信息住在哪、怎么学</a:t>
            </a:r>
            <a:endParaRPr lang="en-US" sz="24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记忆不是一个平面 · 四层各有生死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484632" y="804672"/>
          <a:ext cx="8174736" cy="18288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280160"/>
                <a:gridCol w="2011680"/>
                <a:gridCol w="3236976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生命周期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存储位置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旅行规划实例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工作记忆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当前轮次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PlanningLedger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本轮方案、problems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会话记忆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当前会话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PlanningSession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版本链、requestDiff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用户记忆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跨会话持久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profiles/{userId}.json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已确认偏好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系统知识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全局静态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 / Prompt 模板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群体默认值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3840480"/>
            <a:ext cx="8174736" cy="54864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5" name="Shape 2"/>
          <p:cNvSpPr/>
          <p:nvPr/>
        </p:nvSpPr>
        <p:spPr>
          <a:xfrm>
            <a:off x="484632" y="3840480"/>
            <a:ext cx="45720" cy="5486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3"/>
          <p:cNvSpPr/>
          <p:nvPr/>
        </p:nvSpPr>
        <p:spPr>
          <a:xfrm>
            <a:off x="685800" y="384048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关键在中间的</a:t>
            </a: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会话记忆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——它是用户记忆的原材料来源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信息的生命周期决定它住哪一层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四层淘汰方式 · 为什么不能只分两层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1940814" cy="12801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280160"/>
          </a:xfrm>
          <a:prstGeom prst="rect">
            <a:avLst/>
          </a:prstGeom>
          <a:solidFill>
            <a:srgbClr val="666666"/>
          </a:solidFill>
        </p:spPr>
      </p:sp>
      <p:sp>
        <p:nvSpPr>
          <p:cNvPr id="5" name="Text 3"/>
          <p:cNvSpPr/>
          <p:nvPr/>
        </p:nvSpPr>
        <p:spPr>
          <a:xfrm>
            <a:off x="594360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工作记忆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1721358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每轮覆盖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2606" y="804672"/>
            <a:ext cx="1940814" cy="12801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" name="Shape 6"/>
          <p:cNvSpPr/>
          <p:nvPr/>
        </p:nvSpPr>
        <p:spPr>
          <a:xfrm>
            <a:off x="2562606" y="804672"/>
            <a:ext cx="36576" cy="12801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Text 7"/>
          <p:cNvSpPr/>
          <p:nvPr/>
        </p:nvSpPr>
        <p:spPr>
          <a:xfrm>
            <a:off x="2672334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会话记忆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72334" y="1188720"/>
            <a:ext cx="1721358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会话结束回收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第7章已建好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0580" y="804672"/>
            <a:ext cx="1940814" cy="12801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4640580" y="804672"/>
            <a:ext cx="36576" cy="1280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4750308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用户记忆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0308" y="1188720"/>
            <a:ext cx="1721358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需要遗忘策略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只写不删会污染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18554" y="804672"/>
            <a:ext cx="1940814" cy="12801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6718554" y="804672"/>
            <a:ext cx="36576" cy="128016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7" name="Text 15"/>
          <p:cNvSpPr/>
          <p:nvPr/>
        </p:nvSpPr>
        <p:spPr>
          <a:xfrm>
            <a:off x="6828282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系统知识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28282" y="1188720"/>
            <a:ext cx="1721358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手动维护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兜新用户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2286000"/>
            <a:ext cx="3931920" cy="10972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0" name="Shape 18"/>
          <p:cNvSpPr/>
          <p:nvPr/>
        </p:nvSpPr>
        <p:spPr>
          <a:xfrm>
            <a:off x="484632" y="2286000"/>
            <a:ext cx="36576" cy="10972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1" name="Text 19"/>
          <p:cNvSpPr/>
          <p:nvPr/>
        </p:nvSpPr>
        <p:spPr>
          <a:xfrm>
            <a:off x="621792" y="23774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归短期？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2651760"/>
            <a:ext cx="36576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会话结束就丢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永远学不到偏好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99432" y="2286000"/>
            <a:ext cx="3931920" cy="10972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4" name="Shape 22"/>
          <p:cNvSpPr/>
          <p:nvPr/>
        </p:nvSpPr>
        <p:spPr>
          <a:xfrm>
            <a:off x="4599432" y="2286000"/>
            <a:ext cx="36576" cy="10972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5" name="Text 23"/>
          <p:cNvSpPr/>
          <p:nvPr/>
        </p:nvSpPr>
        <p:spPr>
          <a:xfrm>
            <a:off x="4736592" y="237744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归长期？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2651760"/>
            <a:ext cx="36576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临时修改直接进永久存储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"带孩子不爬山"变成"永远不爬山"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" y="356616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8" name="Text 26"/>
          <p:cNvSpPr/>
          <p:nvPr/>
        </p:nvSpPr>
        <p:spPr>
          <a:xfrm>
            <a:off x="484632" y="356616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层与层之间的晋升必须有显式条件，不能自动扩散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30" name="Text 28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会话记忆是学习原料，达到门槛经用户确认才进 UserProfile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冷启动 · 新用户的用户记忆是空的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3931920" cy="164592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6217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36576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新用户第一次进来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用户记忆是空的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画像区一个字填不出来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前几次靠谁兜？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804672"/>
            <a:ext cx="3931920" cy="164592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8" name="Shape 6"/>
          <p:cNvSpPr/>
          <p:nvPr/>
        </p:nvSpPr>
        <p:spPr>
          <a:xfrm>
            <a:off x="4599432" y="804672"/>
            <a:ext cx="36576" cy="164592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9" name="Text 7"/>
          <p:cNvSpPr/>
          <p:nvPr/>
        </p:nvSpPr>
        <p:spPr>
          <a:xfrm>
            <a:off x="47365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答案：系统知识层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170432"/>
            <a:ext cx="36576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群体先验：每天≤3景点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不接受超长交通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写进 prompt 模板默认段落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65176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2" name="Text 10"/>
          <p:cNvSpPr/>
          <p:nvPr/>
        </p:nvSpPr>
        <p:spPr>
          <a:xfrm>
            <a:off x="484632" y="265176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群体先验住系统知识层，个人偏好住用户记忆层。混在一层永远分不清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" y="3291840"/>
            <a:ext cx="8174736" cy="10972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4" name="Shape 12"/>
          <p:cNvSpPr/>
          <p:nvPr/>
        </p:nvSpPr>
        <p:spPr>
          <a:xfrm>
            <a:off x="484632" y="3291840"/>
            <a:ext cx="45720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667512" y="338328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为什么不塞进用户记忆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3639312"/>
            <a:ext cx="7808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它不是这个人的偏好。一旦混进画像，他要删你不知道该不该让他删——删的是偏好还是产品默认值？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"系统猜的"和"用户说的"可信度和可删除性完全不同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晋升判据 · 什么时候从会话提升到用户记忆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658368"/>
            <a:ext cx="8174736" cy="7772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658368"/>
            <a:ext cx="45720" cy="7772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667512" y="749808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" y="1005840"/>
            <a:ext cx="7808976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用户说"预算从 2600 改到 3000"——他永远偏好 3000，还是这次去三亚比较贵？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错误做法：把所有修改直接写进用户记忆 → 一次性场景被永久化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600200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" name="Shape 6"/>
          <p:cNvSpPr/>
          <p:nvPr/>
        </p:nvSpPr>
        <p:spPr>
          <a:xfrm>
            <a:off x="484632" y="1600200"/>
            <a:ext cx="36576" cy="18288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9" name="Shape 7"/>
          <p:cNvSpPr/>
          <p:nvPr/>
        </p:nvSpPr>
        <p:spPr>
          <a:xfrm>
            <a:off x="594360" y="1709928"/>
            <a:ext cx="256032" cy="256032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10" name="Text 8"/>
          <p:cNvSpPr/>
          <p:nvPr/>
        </p:nvSpPr>
        <p:spPr>
          <a:xfrm>
            <a:off x="594360" y="17099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03911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频次门槛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313432"/>
            <a:ext cx="241401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同一修改模式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 3 个不同会话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同会话反复改只算一次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避免把一次纠结当长期偏好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55264" y="1600200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4" name="Shape 12"/>
          <p:cNvSpPr/>
          <p:nvPr/>
        </p:nvSpPr>
        <p:spPr>
          <a:xfrm>
            <a:off x="3255264" y="1600200"/>
            <a:ext cx="36576" cy="1828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Shape 13"/>
          <p:cNvSpPr/>
          <p:nvPr/>
        </p:nvSpPr>
        <p:spPr>
          <a:xfrm>
            <a:off x="3364992" y="1709928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3364992" y="17099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03911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方向一致性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313432"/>
            <a:ext cx="241401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4/5 次改成民宿 = 强信号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2次上调 2次下调 = 浮动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频次够但方向不一致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说明随场景变化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25896" y="1600200"/>
            <a:ext cx="2633472" cy="18288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" name="Shape 18"/>
          <p:cNvSpPr/>
          <p:nvPr/>
        </p:nvSpPr>
        <p:spPr>
          <a:xfrm>
            <a:off x="6025896" y="1600200"/>
            <a:ext cx="36576" cy="18288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1" name="Shape 19"/>
          <p:cNvSpPr/>
          <p:nvPr/>
        </p:nvSpPr>
        <p:spPr>
          <a:xfrm>
            <a:off x="6135624" y="1709928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2" name="Text 20"/>
          <p:cNvSpPr/>
          <p:nvPr/>
        </p:nvSpPr>
        <p:spPr>
          <a:xfrm>
            <a:off x="6135624" y="17099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35624" y="203911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上下文一致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35624" y="2313432"/>
            <a:ext cx="2414016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"带孩子不爬山"可以晋升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但必须连同条件一起确认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不能写成无条件的"不爬山"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三个月后独自去黄山就完了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" y="361188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6" name="Text 24"/>
          <p:cNvSpPr/>
          <p:nvPr/>
        </p:nvSpPr>
        <p:spPr>
          <a:xfrm>
            <a:off x="484632" y="361188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无论哪种候选，用户确认前都不能写入画像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8" name="Text 26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先看频次，再看方向，有条件就带着条件确认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 · 偏好多了不能全塞，要挑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3931920" cy="137160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3716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6217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半年用户一两百条偏好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全塞进画像区 → 超预算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画像区整体丢弃 → 白学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804672"/>
            <a:ext cx="3931920" cy="137160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8" name="Shape 6"/>
          <p:cNvSpPr/>
          <p:nvPr/>
        </p:nvSpPr>
        <p:spPr>
          <a:xfrm>
            <a:off x="4599432" y="804672"/>
            <a:ext cx="36576" cy="137160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9" name="Text 7"/>
          <p:cNvSpPr/>
          <p:nvPr/>
        </p:nvSpPr>
        <p:spPr>
          <a:xfrm>
            <a:off x="47365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解法：按相关性挑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170432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不能全放，要挑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跟这一次请求相关的放进来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其余的留在冰箱里不动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377440"/>
            <a:ext cx="2633472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484632" y="2377440"/>
            <a:ext cx="36576" cy="14630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Shape 11"/>
          <p:cNvSpPr/>
          <p:nvPr/>
        </p:nvSpPr>
        <p:spPr>
          <a:xfrm>
            <a:off x="594360" y="2487168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4" name="Text 12"/>
          <p:cNvSpPr/>
          <p:nvPr/>
        </p:nvSpPr>
        <p:spPr>
          <a:xfrm>
            <a:off x="594360" y="248716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字段相关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090672"/>
            <a:ext cx="241401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这次涉及哪个领域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就只召那个领域的偏好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餐饮偏好别放进节奏请求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55264" y="2377440"/>
            <a:ext cx="2633472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8" name="Shape 16"/>
          <p:cNvSpPr/>
          <p:nvPr/>
        </p:nvSpPr>
        <p:spPr>
          <a:xfrm>
            <a:off x="3255264" y="2377440"/>
            <a:ext cx="36576" cy="1463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Shape 17"/>
          <p:cNvSpPr/>
          <p:nvPr/>
        </p:nvSpPr>
        <p:spPr>
          <a:xfrm>
            <a:off x="3364992" y="2487168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0" name="Text 18"/>
          <p:cNvSpPr/>
          <p:nvPr/>
        </p:nvSpPr>
        <p:spPr>
          <a:xfrm>
            <a:off x="3364992" y="248716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281635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条件匹配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3090672"/>
            <a:ext cx="241401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"带孩子时不爬山"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不带孩子 → 不该召回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条件不成立还放进去更糟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25896" y="2377440"/>
            <a:ext cx="2633472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4" name="Shape 22"/>
          <p:cNvSpPr/>
          <p:nvPr/>
        </p:nvSpPr>
        <p:spPr>
          <a:xfrm>
            <a:off x="6025896" y="2377440"/>
            <a:ext cx="36576" cy="146304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5" name="Shape 23"/>
          <p:cNvSpPr/>
          <p:nvPr/>
        </p:nvSpPr>
        <p:spPr>
          <a:xfrm>
            <a:off x="6135624" y="2487168"/>
            <a:ext cx="256032" cy="256032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26" name="Text 24"/>
          <p:cNvSpPr/>
          <p:nvPr/>
        </p:nvSpPr>
        <p:spPr>
          <a:xfrm>
            <a:off x="6135624" y="248716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35624" y="2816352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时间新鲜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35624" y="3090672"/>
            <a:ext cx="241401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上周确认 &gt; 三个月前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越新被触发的排越前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三维加权，最多取前 8 条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" y="402336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30" name="Text 28"/>
          <p:cNvSpPr/>
          <p:nvPr/>
        </p:nvSpPr>
        <p:spPr>
          <a:xfrm>
            <a:off x="484632" y="402336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记忆不是越多越好，是越准越好——决定质量的不是存了多少条，是能不能准确召回该用的那几条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32" name="Text 30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不挑就等于白学：学了半年的偏好，一条都没进 prompt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偏好冲突 · 画像说一回事，请求说另一回事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3931920" cy="146304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463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6217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画像："预算通常 2500-3000"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本次请求："预算 2600"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两条信息重叠了，听谁的？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804672"/>
            <a:ext cx="3931920" cy="146304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8" name="Shape 6"/>
          <p:cNvSpPr/>
          <p:nvPr/>
        </p:nvSpPr>
        <p:spPr>
          <a:xfrm>
            <a:off x="4599432" y="804672"/>
            <a:ext cx="36576" cy="146304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9" name="Text 7"/>
          <p:cNvSpPr/>
          <p:nvPr/>
        </p:nvSpPr>
        <p:spPr>
          <a:xfrm>
            <a:off x="47365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170432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本次显式约束永远压过历史画像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用户都开口说了精确数字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历史推断就该让路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468880"/>
            <a:ext cx="8174736" cy="91440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484632" y="2468880"/>
            <a:ext cx="45720" cy="9144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Text 11"/>
          <p:cNvSpPr/>
          <p:nvPr/>
        </p:nvSpPr>
        <p:spPr>
          <a:xfrm>
            <a:off x="667512" y="256032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不需要额外写冲突解决器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2816352"/>
            <a:ext cx="780897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上一节定的分区顺序本身就是冲突规则：约束区排在画像区之上。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召回偏好时把已被本次请求明确指定的字段跳过，覆盖就自动发生了。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566160"/>
            <a:ext cx="8174736" cy="8229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484632" y="3566160"/>
            <a:ext cx="45720" cy="8229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7" name="Text 15"/>
          <p:cNvSpPr/>
          <p:nvPr/>
        </p:nvSpPr>
        <p:spPr>
          <a:xfrm>
            <a:off x="667512" y="365760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画像内部两条自己打架呢？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3913632"/>
            <a:ext cx="7808976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"总选民宿"和"接受连锁酒店"同时存在 → 不该指望召回去挑，它在写入时就不该被允许发生。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这就是删除为什么必须是一等公民。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0" name="Text 18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偏好冲突靠分区顺序解决，不靠仲裁器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记错的代价与确认策略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3931920" cy="13716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371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6217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意图识别记错了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"修改预算"误判为"取消"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后果立刻可见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用户能即时纠正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804672"/>
            <a:ext cx="3931920" cy="137160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8" name="Shape 6"/>
          <p:cNvSpPr/>
          <p:nvPr/>
        </p:nvSpPr>
        <p:spPr>
          <a:xfrm>
            <a:off x="4599432" y="804672"/>
            <a:ext cx="36576" cy="13716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9" name="Text 7"/>
          <p:cNvSpPr/>
          <p:nvPr/>
        </p:nvSpPr>
        <p:spPr>
          <a:xfrm>
            <a:off x="47365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记忆记错了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170432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"不爬山"写进画像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永远不推荐登山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用户不知道为什么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484632" y="2331720"/>
          <a:ext cx="8174736" cy="1389888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2560320"/>
                <a:gridCol w="2779776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策略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实例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理由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隐式推断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记错代价低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展示顺序偏好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错了下次覆盖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显式确认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记错代价高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"以后默认民宿？"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后续全部受影响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带条件标签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有上下文依赖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"带孩子时不爬山"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条件消失后不生效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4632" y="384048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3" name="Text 10"/>
          <p:cNvSpPr/>
          <p:nvPr/>
        </p:nvSpPr>
        <p:spPr>
          <a:xfrm>
            <a:off x="484632" y="384048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记忆系统最危险的属性不是"记不住"，是"忘不掉"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5" name="Text 12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遗忘必须是一等公民操作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可解释、可查看、可删除 · 三件套缺一不可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2633472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4630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Shape 3"/>
          <p:cNvSpPr/>
          <p:nvPr/>
        </p:nvSpPr>
        <p:spPr>
          <a:xfrm>
            <a:off x="594360" y="914400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94360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241401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"你为什么这么推荐？"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缺了：只能怀疑整个系统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804672"/>
            <a:ext cx="2633472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Shape 8"/>
          <p:cNvSpPr/>
          <p:nvPr/>
        </p:nvSpPr>
        <p:spPr>
          <a:xfrm>
            <a:off x="3255264" y="804672"/>
            <a:ext cx="36576" cy="1463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Shape 9"/>
          <p:cNvSpPr/>
          <p:nvPr/>
        </p:nvSpPr>
        <p:spPr>
          <a:xfrm>
            <a:off x="3364992" y="914400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3364992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可查看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17904"/>
            <a:ext cx="241401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"你都记了我什么？"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缺了：不知道有什么可删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804672"/>
            <a:ext cx="2633472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6025896" y="804672"/>
            <a:ext cx="36576" cy="14630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7" name="Shape 15"/>
          <p:cNvSpPr/>
          <p:nvPr/>
        </p:nvSpPr>
        <p:spPr>
          <a:xfrm>
            <a:off x="6135624" y="914400"/>
            <a:ext cx="256032" cy="256032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6135624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可删除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5624" y="1517904"/>
            <a:ext cx="241401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"把这条忘掉"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缺了：知道错了也改不了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" y="2468880"/>
            <a:ext cx="8174736" cy="10972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2" name="Shape 20"/>
          <p:cNvSpPr/>
          <p:nvPr/>
        </p:nvSpPr>
        <p:spPr>
          <a:xfrm>
            <a:off x="484632" y="2468880"/>
            <a:ext cx="45720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667512" y="256032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落地靠一个字段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816352"/>
            <a:ext cx="78089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每条偏好记录它从哪几次会话学来的 → 出示证据，让用户自己判断留还是删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" y="329184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6" name="Text 24"/>
          <p:cNvSpPr/>
          <p:nvPr/>
        </p:nvSpPr>
        <p:spPr>
          <a:xfrm>
            <a:off x="484632" y="329184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缺了前两件，删除权就是空的——用户根本不知道有什么可删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4632" y="3840480"/>
            <a:ext cx="8174736" cy="6400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8" name="Shape 26"/>
          <p:cNvSpPr/>
          <p:nvPr/>
        </p:nvSpPr>
        <p:spPr>
          <a:xfrm>
            <a:off x="484632" y="3840480"/>
            <a:ext cx="45720" cy="6400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9" name="Text 27"/>
          <p:cNvSpPr/>
          <p:nvPr/>
        </p:nvSpPr>
        <p:spPr>
          <a:xfrm>
            <a:off x="667512" y="393192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偏好是个人数据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" y="4187952"/>
            <a:ext cx="7808976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可导出 · 可清空("忘记我") · 可关闭(关掉偏好学习)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遗忘和删除必须打审计日志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32" name="Text 30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三件做不到，你的记忆系统不该上线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S · 偏好学习与记忆管理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658368"/>
            <a:ext cx="8174736" cy="7772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658368"/>
            <a:ext cx="45720" cy="7772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667512" y="749808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承接关系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" y="1005840"/>
            <a:ext cx="7808976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第一节 Prompt 实现了 PromptDumper（落盘+分区计量），第二节 Prompt R 实现了 ContextAssembler（预算组装）。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这一轮把"写入"和"遗忘"补上——ContextAssembler 已经会读画像，但画像一直是空列表。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1554480"/>
            <a:ext cx="8174736" cy="2834640"/>
          </a:xfrm>
          <a:prstGeom prst="rect">
            <a:avLst/>
          </a:prstGeom>
          <a:solidFill>
            <a:srgbClr val="1E1E2E"/>
          </a:solidFill>
        </p:spPr>
      </p:sp>
      <p:sp>
        <p:nvSpPr>
          <p:cNvPr id="8" name="Text 6"/>
          <p:cNvSpPr/>
          <p:nvPr/>
        </p:nvSpPr>
        <p:spPr>
          <a:xfrm>
            <a:off x="621792" y="1664208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A9955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Prompt S · 偏好学习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790041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继续在 这个仓库里做。先读 PlanningSession、修改版本、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SSE 确认流程、ContextAssembler 和 UserProfile。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每次 RevisionPolicy 接受修改后留 RevisionRecord。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学习时按修改类型汇总，同会话反复改只算一次。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PromotionPolicy：&lt;3会话→WAIT  方向不一致→REJECT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稳定候选→用户确认  带条件→连条件一起保存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用户确认前不进 UserProfile。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已确认偏好保存：内容/置信度/条件/时间/来源sessions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最多召回8条；90天未用降置信度→自动删除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增加 PREFERENCE_LEARNED / PREFERENCE_CONFIRMED 事件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相反修改直接删除旧记录；审计日志
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1" name="Text 9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按现有工程写：告诉 AI 从哪拿修改记录，候选/确认/画像分别住在哪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核心代码讲解 · 讲师看这里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50392"/>
            <a:ext cx="274320" cy="2743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4" name="Text 2"/>
          <p:cNvSpPr/>
          <p:nvPr/>
        </p:nvSpPr>
        <p:spPr>
          <a:xfrm>
            <a:off x="484632" y="8503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82296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PreferenceLearner.java — 只做汇总，不做决定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 preference 包下的 PreferenceLearner。讲 analyze() 方法：同类修改放到一组，同会话只保留最后一次，产出候选列表。重点是——它不决定候选能不能进入画像，频次不足的也保留下来，为的是让下一步的 PromotionPolicy 有真实输入。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2103120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484632" y="21031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75688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PromotionPolicy.java — 真正的门槛在这里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13432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紧接着打开同包的 PromotionPolicy。讲 evaluate() 方法的四个分支：频次不够返回 WAIT（继续观察）、方向不一致返回 REJECT、有条件的返回 CONFIRM_WITH_CONDITION、无条件的返回 CONFIRM_UNCONDITIONAL。告诉学员这就是前面讲的三条判据在代码里的落地。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3355848"/>
            <a:ext cx="274320" cy="274320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12" name="Text 10"/>
          <p:cNvSpPr/>
          <p:nvPr/>
        </p:nvSpPr>
        <p:spPr>
          <a:xfrm>
            <a:off x="484632" y="335584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328416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Loop 的关系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用户每次返工都会留下信号，但 Loop 不急着把一次返工当永久规则。先观察、再判断、最后让用户确认——长期记忆才不会污染后面每一轮。Engine 仍然只管 Loop，记忆在模型调用边界才注入 Prompt。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课堂上不展开 stream 细节，只带学员看数据往哪里走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四层记忆 · 在跑着的系统里看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1940814" cy="21945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2194560"/>
          </a:xfrm>
          <a:prstGeom prst="rect">
            <a:avLst/>
          </a:prstGeom>
          <a:solidFill>
            <a:srgbClr val="666666"/>
          </a:solidFill>
        </p:spPr>
      </p:sp>
      <p:sp>
        <p:nvSpPr>
          <p:cNvPr id="5" name="Shape 3"/>
          <p:cNvSpPr/>
          <p:nvPr/>
        </p:nvSpPr>
        <p:spPr>
          <a:xfrm>
            <a:off x="594360" y="914400"/>
            <a:ext cx="256032" cy="256032"/>
          </a:xfrm>
          <a:prstGeom prst="ellipse">
            <a:avLst/>
          </a:prstGeom>
          <a:solidFill>
            <a:srgbClr val="666666"/>
          </a:solidFill>
        </p:spPr>
      </p:sp>
      <p:sp>
        <p:nvSpPr>
          <p:cNvPr id="6" name="Text 4"/>
          <p:cNvSpPr/>
          <p:nvPr/>
        </p:nvSpPr>
        <p:spPr>
          <a:xfrm>
            <a:off x="594360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工作记忆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1721358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→ PLAN_GENERATED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problems / score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只活在当前轮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下一轮直接覆盖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2606" y="804672"/>
            <a:ext cx="1940814" cy="21945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Shape 8"/>
          <p:cNvSpPr/>
          <p:nvPr/>
        </p:nvSpPr>
        <p:spPr>
          <a:xfrm>
            <a:off x="2562606" y="804672"/>
            <a:ext cx="36576" cy="21945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1" name="Shape 9"/>
          <p:cNvSpPr/>
          <p:nvPr/>
        </p:nvSpPr>
        <p:spPr>
          <a:xfrm>
            <a:off x="2672334" y="914400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2672334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72334" y="1243584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会话记忆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2334" y="1517904"/>
            <a:ext cx="1721358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→ VERSION_SAVED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requestDiff / 版本链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活到会话结束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第七章已搭好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40580" y="804672"/>
            <a:ext cx="1940814" cy="21945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4640580" y="804672"/>
            <a:ext cx="36576" cy="2194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7" name="Shape 15"/>
          <p:cNvSpPr/>
          <p:nvPr/>
        </p:nvSpPr>
        <p:spPr>
          <a:xfrm>
            <a:off x="4750308" y="914400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4750308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0308" y="1243584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用户记忆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0308" y="1517904"/>
            <a:ext cx="1721358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profiles/{userId}.json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 / 置信度 / 条件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跨会话持久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后面的演示往这里写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18554" y="804672"/>
            <a:ext cx="1940814" cy="21945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2" name="Shape 20"/>
          <p:cNvSpPr/>
          <p:nvPr/>
        </p:nvSpPr>
        <p:spPr>
          <a:xfrm>
            <a:off x="6718554" y="804672"/>
            <a:ext cx="36576" cy="219456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3" name="Shape 21"/>
          <p:cNvSpPr/>
          <p:nvPr/>
        </p:nvSpPr>
        <p:spPr>
          <a:xfrm>
            <a:off x="6828282" y="914400"/>
            <a:ext cx="256032" cy="256032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24" name="Text 22"/>
          <p:cNvSpPr/>
          <p:nvPr/>
        </p:nvSpPr>
        <p:spPr>
          <a:xfrm>
            <a:off x="6828282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28282" y="1243584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系统知识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28282" y="1517904"/>
            <a:ext cx="1721358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模板 / 应用配置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"每天≤3景点"等默认值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新用户靠它兜底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全局静态、运营维护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" y="320040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8" name="Text 26"/>
          <p:cNvSpPr/>
          <p:nvPr/>
        </p:nvSpPr>
        <p:spPr>
          <a:xfrm>
            <a:off x="484632" y="320040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理论表格对应到真实文件——学员后面看偏好演示就知道数据往 L3 的哪个 JSON 里写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30" name="Text 28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先发一个请求让四层都有数据，再开始偏好生命周期演示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真实演示 · 一条偏好走完整个生命周期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50392"/>
            <a:ext cx="274320" cy="274320"/>
          </a:xfrm>
          <a:prstGeom prst="ellipse">
            <a:avLst/>
          </a:prstGeom>
          <a:solidFill>
            <a:srgbClr val="666666"/>
          </a:solidFill>
        </p:spPr>
      </p:sp>
      <p:sp>
        <p:nvSpPr>
          <p:cNvPr id="4" name="Text 2"/>
          <p:cNvSpPr/>
          <p:nvPr/>
        </p:nvSpPr>
        <p:spPr>
          <a:xfrm>
            <a:off x="484632" y="8503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82296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 1-2：酒店→民宿，观察期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两次新会话各提一次"改成民宿"。SSE 推出 PREFERENCE_LEARNED(WAIT)，频次分别为 1、2。页面不弹确认卡片——门槛未到，系统在安静观察。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2103120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484632" y="21031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75688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 3：频次到 3，弹出确认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13432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决策变为 CONFIRM_UNCONDITIONAL。页面弹出"记住：住宿优先选择民宿"确认卡片。点击"记住"后 SSE 推出 PREFERENCE_CONFIRMED。打开 data/profiles/course-demo-user.json 看写入结果。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3355848"/>
            <a:ext cx="274320" cy="27432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12" name="Text 10"/>
          <p:cNvSpPr/>
          <p:nvPr/>
        </p:nvSpPr>
        <p:spPr>
          <a:xfrm>
            <a:off x="484632" y="335584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328416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 4：画像生效 + 相反修改删除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不做修改直接看 CONTEXT_ASSEMBLED——includedSections 出现 profile，PromptDumper 日志画像区不再为 0。再改回连锁酒店——SSE 推出旧偏好删除事件，profiles JSON 里"民宿"消失。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4297680"/>
            <a:ext cx="8174736" cy="4114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484632" y="4297680"/>
            <a:ext cx="8174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返工不再只服务当前一轮，它可以变成下一次 Loop 的软性输入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观察、确认、衰减和删除共同保证这条输入不会失控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28600"/>
            <a:ext cx="8174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84632" y="777240"/>
            <a:ext cx="8174736" cy="11887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777240"/>
            <a:ext cx="45720" cy="11887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713232" y="86868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冰箱管好了——四层各自的生死、怎么补货、怎么准确召回、过期的怎么扔，都有交代了。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记忆系统最容易出的问题不是"装不上"，是装上了以为在生效，其实没生效或在反效。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" name="Shape 5"/>
          <p:cNvSpPr/>
          <p:nvPr/>
        </p:nvSpPr>
        <p:spPr>
          <a:xfrm>
            <a:off x="484632" y="2194560"/>
            <a:ext cx="393192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621792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回到主线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四层记忆（工作/会话/用户/系统）+ 三条晋升判据 + 相关性召回 + 可解释·可查看·可删除三件套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Shape 9"/>
          <p:cNvSpPr/>
          <p:nvPr/>
        </p:nvSpPr>
        <p:spPr>
          <a:xfrm>
            <a:off x="4727448" y="2194560"/>
            <a:ext cx="3931920" cy="3657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864608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你带走的能力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会设计偏好的晋升门槛和遗忘策略：记错了代价多大决定用显式确认还是隐式推断。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5" name="Text 13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下一节：记忆要能忘——AI 自动化评测八维度 + 人工评测三维度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011680"/>
            <a:ext cx="811987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记忆评测与验收——记对还不够，还得忘对</a:t>
            </a:r>
            <a:endParaRPr sz="2400" b="1" dirty="0">
              <a:solidFill>
                <a:srgbClr val="C939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记忆故障 · 时间型的新挑战</a:t>
            </a:r>
            <a:endParaRPr lang="en-US" sz="2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484632" y="804672"/>
          <a:ext cx="8174736" cy="1755648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877056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表现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为什么难发现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记错了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一次不爬山→永久标记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用户不知道系统替他决定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忘太早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3次选民宿第4次从零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用户觉得"笨"分不清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忘不掉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说"试酒店"仍注入民宿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显式被隐式覆盖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3200400"/>
            <a:ext cx="8174736" cy="54864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5" name="Shape 2"/>
          <p:cNvSpPr/>
          <p:nvPr/>
        </p:nvSpPr>
        <p:spPr>
          <a:xfrm>
            <a:off x="484632" y="3200400"/>
            <a:ext cx="45720" cy="5486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3"/>
          <p:cNvSpPr/>
          <p:nvPr/>
        </p:nvSpPr>
        <p:spPr>
          <a:xfrm>
            <a:off x="685800" y="32004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它们不会在一次会话内暴露，</a:t>
            </a: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你必须跨越多个会话才能抓到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验证手段也要对应调整——一部分自动跑，一部分靠人感受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两拨验证 · 各管什么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3931920" cy="18288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8288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6217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自动化评测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问什么：记对了吗？忘对了吗？没串用户吗？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怎么跑：构造评测集，跑 prompt，检查输出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频率：改了记忆代码就跑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804672"/>
            <a:ext cx="3931920" cy="182880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8" name="Shape 6"/>
          <p:cNvSpPr/>
          <p:nvPr/>
        </p:nvSpPr>
        <p:spPr>
          <a:xfrm>
            <a:off x="4599432" y="804672"/>
            <a:ext cx="36576" cy="1828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47365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人工评测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170432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问什么：被记住舒服还是诡异？覆盖时像配合还是争辩？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怎么跑：讲师在页面走一遍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频率：重大改动后手动走一遍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83464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2" name="Text 10"/>
          <p:cNvSpPr/>
          <p:nvPr/>
        </p:nvSpPr>
        <p:spPr>
          <a:xfrm>
            <a:off x="484632" y="283464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能算的不交给人，人只负责机器判断不了的感受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4" name="Text 12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第七章立的规矩，这一章延续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自动化评测 · 八个维度</a:t>
            </a:r>
            <a:endParaRPr lang="en-US" sz="2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/>
        </p:nvGraphicFramePr>
        <p:xfrm>
          <a:off x="484632" y="804672"/>
          <a:ext cx="8174736" cy="987552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2048256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具体验什么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达标线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预算丢弃顺序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画像先于历史先于约束被砍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丢弃可追溯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droppedSections 包含原因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/>
        </p:nvGraphicFramePr>
        <p:xfrm>
          <a:off x="484632" y="2011680"/>
          <a:ext cx="8174736" cy="2048256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2048256"/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具体验什么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达标线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偏好晋升正确性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3次晋升/2次不晋升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遗忘衰减正确性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3次矛盾后旧偏好移除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条件偏好尊重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带孩子才生效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显式覆盖尊重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说"试酒店"→不注入民宿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跨用户隔离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A偏好不出现在B的prompt里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个性化命中率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方案是否体现注入偏好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≥80%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84632" y="4251960"/>
            <a:ext cx="8174736" cy="45720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6" name="Shape 2"/>
          <p:cNvSpPr/>
          <p:nvPr/>
        </p:nvSpPr>
        <p:spPr>
          <a:xfrm>
            <a:off x="484632" y="4251960"/>
            <a:ext cx="45720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7" name="Text 3"/>
          <p:cNvSpPr/>
          <p:nvPr/>
        </p:nvSpPr>
        <p:spPr>
          <a:xfrm>
            <a:off x="685800" y="425196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记忆那六维度每条必须成对断言——</a:t>
            </a:r>
            <a:r>
              <a:rPr lang="en-US" sz="125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"记住了"和"没乱记"同时验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9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"该忘的没忘"比"该记的没记"更危险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评测集 · 50画像×3请求=150条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2633472" cy="16459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6459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Shape 3"/>
          <p:cNvSpPr/>
          <p:nvPr/>
        </p:nvSpPr>
        <p:spPr>
          <a:xfrm>
            <a:off x="594360" y="914400"/>
            <a:ext cx="256032" cy="25603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94360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用户画像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24140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偏好民宿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预算敏感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带孩子不爬山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偏好自由行…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804672"/>
            <a:ext cx="2633472" cy="16459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Shape 8"/>
          <p:cNvSpPr/>
          <p:nvPr/>
        </p:nvSpPr>
        <p:spPr>
          <a:xfrm>
            <a:off x="3255264" y="804672"/>
            <a:ext cx="36576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Shape 9"/>
          <p:cNvSpPr/>
          <p:nvPr/>
        </p:nvSpPr>
        <p:spPr>
          <a:xfrm>
            <a:off x="3364992" y="914400"/>
            <a:ext cx="256032" cy="25603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3364992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×3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每画像三请求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17904"/>
            <a:ext cx="24140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命中场景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偏好无关场景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显式覆盖场景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804672"/>
            <a:ext cx="2633472" cy="16459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6025896" y="804672"/>
            <a:ext cx="36576" cy="1645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7" name="Shape 15"/>
          <p:cNvSpPr/>
          <p:nvPr/>
        </p:nvSpPr>
        <p:spPr>
          <a:xfrm>
            <a:off x="6135624" y="914400"/>
            <a:ext cx="256032" cy="256032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6135624" y="9144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243584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合计用例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5624" y="1517904"/>
            <a:ext cx="241401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跨会话序列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≈600次模拟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跑一次40分钟</a:t>
            </a:r>
            <a:endParaRPr lang="en-US" sz="10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/>
        </p:nvGraphicFramePr>
        <p:xfrm>
          <a:off x="484632" y="2651760"/>
          <a:ext cx="8174736" cy="1316736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3602736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请求类型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具体内容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预期结果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命中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杭州3天/2600/带孩子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方案有民宿、无登山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无关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上海2天/5000/商务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偏好都不触发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成都4天/"这次住酒店"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显式压过画像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84632" y="3840480"/>
            <a:ext cx="8174736" cy="7315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3" name="Shape 20"/>
          <p:cNvSpPr/>
          <p:nvPr/>
        </p:nvSpPr>
        <p:spPr>
          <a:xfrm>
            <a:off x="484632" y="3840480"/>
            <a:ext cx="45720" cy="7315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1"/>
          <p:cNvSpPr/>
          <p:nvPr/>
        </p:nvSpPr>
        <p:spPr>
          <a:xfrm>
            <a:off x="667512" y="393192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实操陷阱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7512" y="4187952"/>
            <a:ext cx="7808976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用例之间必须隔离 userId，否则前面偏好污染后面测试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不进 CI——测试每次提交跑，评测按改动面触发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7" name="Text 24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三类少了任何一类，评测就有盲区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T · 实现自动化评测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749808"/>
            <a:ext cx="8174736" cy="2926080"/>
          </a:xfrm>
          <a:prstGeom prst="rect">
            <a:avLst/>
          </a:prstGeom>
          <a:solidFill>
            <a:srgbClr val="1E1E2E"/>
          </a:solidFill>
        </p:spPr>
      </p:sp>
      <p:sp>
        <p:nvSpPr>
          <p:cNvPr id="4" name="Text 2"/>
          <p:cNvSpPr/>
          <p:nvPr/>
        </p:nvSpPr>
        <p:spPr>
          <a:xfrm>
            <a:off x="621792" y="859536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A9955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Prompt T · 自动化评测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7900416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这一章做了上下文组装和记忆管理，建一套自动化评测。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1. 预算丢弃顺序：紧预算 → 画像先砍，约束保留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2. 丢弃可追溯：droppedSections 包含区段名和原因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3. 偏好晋升：3次→有 / 2次→无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4. 遗忘衰减：相反修改→旧偏好立即移除；时间衰减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5. 条件偏好：带孩子→不爬山 / 不带孩子→可爬山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6. 显式覆盖："试酒店"→本次不注入 / 下次恢复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7. 跨用户隔离：A 偏好不出现在 B 的 prompt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8. 个性化命中率：AI judge 跑3次取多数票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
</a:t>
            </a:r>
            <a:r>
              <a:rPr lang="en-US" sz="950" dirty="0">
                <a:solidFill>
                  <a:srgbClr val="E2E8F0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输出：每维度通过率 + 失败用例 → markdown 报告
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4632" y="3794760"/>
            <a:ext cx="3931920" cy="86868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7" name="Shape 5"/>
          <p:cNvSpPr/>
          <p:nvPr/>
        </p:nvSpPr>
        <p:spPr>
          <a:xfrm>
            <a:off x="484632" y="3794760"/>
            <a:ext cx="36576" cy="86868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8" name="Text 6"/>
          <p:cNvSpPr/>
          <p:nvPr/>
        </p:nvSpPr>
        <p:spPr>
          <a:xfrm>
            <a:off x="621792" y="38862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前7维度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4160520"/>
            <a:ext cx="36576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硬门槛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 100% 才放行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确定性指标做卡点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99432" y="3794760"/>
            <a:ext cx="3931920" cy="86868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11" name="Shape 9"/>
          <p:cNvSpPr/>
          <p:nvPr/>
        </p:nvSpPr>
        <p:spPr>
          <a:xfrm>
            <a:off x="4599432" y="3794760"/>
            <a:ext cx="36576" cy="8686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4736592" y="38862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第8维度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4160520"/>
            <a:ext cx="36576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软指标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看趋势不做卡点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Judge 跑3次取多数票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5" name="Text 13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judge 的分数只用来看趋势，卡点必须建立在确定性指标上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真实演示 · 跑评测看报告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50392"/>
            <a:ext cx="274320" cy="27432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4" name="Text 2"/>
          <p:cNvSpPr/>
          <p:nvPr/>
        </p:nvSpPr>
        <p:spPr>
          <a:xfrm>
            <a:off x="484632" y="8503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82296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前七维度：全部 100% 才正常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打开评测报告，前七个维度通过率应该全是 100%。如果不是——当场看失败用例排查原因。比如"偏好晋升"挂了一条，对着三条判据查，根因通常在频次计算或方向判断的边界条件上。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2103120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484632" y="21031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75688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第八维度：命中率 + judge 投票明细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13432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个性化命中率通常 80%~90%。打开一条"未命中"用例，看模型方案 vs 注入偏好——有时模型没遵循，有时偏好描述不够具体。这就是为什么它是软指标：模型有合理波动。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3355848"/>
            <a:ext cx="274320" cy="2743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484632" y="335584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328416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Judge 分歧用例：为什么要多数票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7717536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找一条 2:1 投票的用例，打开三次判断理由。让学员看到 AI 评委自己也有噪声——同一份方案，措辞稍有不同就影响判断。这是所有 AI 评测的标准操作。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4297680"/>
            <a:ext cx="8174736" cy="4114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484632" y="4297680"/>
            <a:ext cx="8174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以实际执行结果为准——让学员亲眼看到评测在跑、报告能读、失败能查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数字因模型版本和评测集内容而波动，趋势比绝对值重要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人工评测 · 在规划页面上验感受</a:t>
            </a:r>
            <a:endParaRPr lang="en-US" sz="2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/>
        </p:nvGraphicFramePr>
        <p:xfrm>
          <a:off x="484632" y="804672"/>
          <a:ext cx="8174736" cy="1755648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145536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为什么机器判不了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被记住的感受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"记住我了"——贴心还是被监视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同功能不同人感受相反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覆盖时态度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说"试酒店"配合还是争辩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配合/争辩断言写不出来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解释可信度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"因为三次都选了民宿"——信不信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证据对但表达影响信任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2514600"/>
            <a:ext cx="8174736" cy="8686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" name="Shape 2"/>
          <p:cNvSpPr/>
          <p:nvPr/>
        </p:nvSpPr>
        <p:spPr>
          <a:xfrm>
            <a:off x="484632" y="2514600"/>
            <a:ext cx="45720" cy="8686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" name="Text 3"/>
          <p:cNvSpPr/>
          <p:nvPr/>
        </p:nvSpPr>
        <p:spPr>
          <a:xfrm>
            <a:off x="667512" y="2606040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演示用例故事线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7512" y="2862072"/>
            <a:ext cx="7808976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步骤1-7：偏好学习（3次改民宿→第4次是否主动推荐）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步骤8-9：显式覆盖（"试酒店"→立刻配合）→恢复注入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" y="356616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9" name="Text 6"/>
          <p:cNvSpPr/>
          <p:nvPr/>
        </p:nvSpPr>
        <p:spPr>
          <a:xfrm>
            <a:off x="484632" y="356616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显式表达永远优先于隐式记忆，系统被覆盖时不许有态度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1" name="Text 8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人工评测有明确用例、观察点、判断标准——结论是人的感受不是数字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三段小结 · 讲师怎么讲这个过程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2633472" cy="201168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20116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594360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关于"被记住"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2414016" cy="15179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三次学会→还挺聪明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一次就记住→觉得被监视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晋升阈值宁可迟钝一点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5264" y="804672"/>
            <a:ext cx="2633472" cy="201168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8" name="Shape 6"/>
          <p:cNvSpPr/>
          <p:nvPr/>
        </p:nvSpPr>
        <p:spPr>
          <a:xfrm>
            <a:off x="3255264" y="804672"/>
            <a:ext cx="36576" cy="20116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3364992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关于"覆盖态度"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4992" y="1188720"/>
            <a:ext cx="2414016" cy="15179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正确反应：立刻配合不评论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错误反应："建议继续选民宿"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在跟用户争辩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25896" y="804672"/>
            <a:ext cx="2633472" cy="201168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12" name="Shape 10"/>
          <p:cNvSpPr/>
          <p:nvPr/>
        </p:nvSpPr>
        <p:spPr>
          <a:xfrm>
            <a:off x="6025896" y="804672"/>
            <a:ext cx="36576" cy="201168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3" name="Text 11"/>
          <p:cNvSpPr/>
          <p:nvPr/>
        </p:nvSpPr>
        <p:spPr>
          <a:xfrm>
            <a:off x="6135624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关于"恢复信任"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5624" y="1188720"/>
            <a:ext cx="2414016" cy="15179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加一句"根据偏好推荐"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用户理解来源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可解释性是信任的基础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01752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484632" y="301752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可解释性不是装饰品，它是信任的基础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8" name="Text 16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AI 评测的区别只有一个：结论是人的感受，不是数字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28600"/>
            <a:ext cx="8174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84632" y="777240"/>
            <a:ext cx="8174736" cy="11887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777240"/>
            <a:ext cx="45720" cy="11887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713232" y="86868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两拨验证：AI 自动化评测管八个维度（前七个硬门槛，第八个看趋势），人工评测管三个感受维度。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150条用例×跨会话模拟，跑一次40分钟——只在改了记忆逻辑时才跑。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" name="Shape 5"/>
          <p:cNvSpPr/>
          <p:nvPr/>
        </p:nvSpPr>
        <p:spPr>
          <a:xfrm>
            <a:off x="484632" y="2194560"/>
            <a:ext cx="393192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621792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回到主线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八维度评测 + 人工三维度 + Prompt T 实现评测自动化。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"该忘的没忘"比"该记的没记"更危险。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2194560"/>
            <a:ext cx="3931920" cy="146304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Shape 9"/>
          <p:cNvSpPr/>
          <p:nvPr/>
        </p:nvSpPr>
        <p:spPr>
          <a:xfrm>
            <a:off x="4727448" y="2194560"/>
            <a:ext cx="3931920" cy="3657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864608" y="230428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你带走的能力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2578608"/>
            <a:ext cx="365760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会设计记忆系统的评测维度：确定性指标做卡点，AI judge 只看趋势。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成对断言是基本功。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5" name="Text 13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下一节：本章小结——从"能对话"到"能进化"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12064" y="2011680"/>
            <a:ext cx="811987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本章小结</a:t>
            </a:r>
            <a:r>
              <a:rPr lang="zh-CN" alt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</a:t>
            </a:r>
            <a:r>
              <a:rPr lang="en-US" sz="2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从"能对话"到"能进化"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能力层次 · 第五层解锁</a:t>
            </a:r>
            <a:endParaRPr lang="en-US" sz="2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/>
        </p:nvGraphicFramePr>
        <p:xfrm>
          <a:off x="484632" y="749808"/>
          <a:ext cx="8174736" cy="2304288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2286000"/>
                <a:gridCol w="3968496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层次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达成于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你敢做什么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核心交付物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能跑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第3-4章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敢自己盯着跑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Loop+生成器+验证器+四把工具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能交付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第5章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敢给用户用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契约检查+两层验收+bestRound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能托管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第6章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没人盯着也敢跑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四道护栏+五终态+诚实报告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能对话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第7章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敢让用户在旁边插话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SSE+HITL+意图识别+版本链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能进化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第8章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敢放手让它越用越好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上下文工程+四层记忆+偏好学习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3840480"/>
            <a:ext cx="8174736" cy="54864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5" name="Shape 2"/>
          <p:cNvSpPr/>
          <p:nvPr/>
        </p:nvSpPr>
        <p:spPr>
          <a:xfrm>
            <a:off x="484632" y="3840480"/>
            <a:ext cx="45720" cy="5486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6" name="Text 3"/>
          <p:cNvSpPr/>
          <p:nvPr/>
        </p:nvSpPr>
        <p:spPr>
          <a:xfrm>
            <a:off x="685800" y="384048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方向变化：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3-6章让机器更正确 → 7章把人引进来 → 8章让系统从人那里学到东西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每一次交互都留下痕迹，下次从更好的起点出发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"能进化"到底是什么意思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3931920" cy="137160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3716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6217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不是什么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不是在线微调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 RLHF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不改变模型权重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99432" y="804672"/>
            <a:ext cx="3931920" cy="137160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8" name="Shape 6"/>
          <p:cNvSpPr/>
          <p:nvPr/>
        </p:nvSpPr>
        <p:spPr>
          <a:xfrm>
            <a:off x="4599432" y="804672"/>
            <a:ext cx="36576" cy="137160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9" name="Text 7"/>
          <p:cNvSpPr/>
          <p:nvPr/>
        </p:nvSpPr>
        <p:spPr>
          <a:xfrm>
            <a:off x="4736592" y="8961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是什么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170432"/>
            <a:ext cx="3657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每次修改留痕迹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下次从更好的起点出发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不改代码不换模型就能进步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377440"/>
            <a:ext cx="8174736" cy="54864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2" name="Shape 10"/>
          <p:cNvSpPr/>
          <p:nvPr/>
        </p:nvSpPr>
        <p:spPr>
          <a:xfrm>
            <a:off x="484632" y="2377440"/>
            <a:ext cx="45720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Text 11"/>
          <p:cNvSpPr/>
          <p:nvPr/>
        </p:nvSpPr>
        <p:spPr>
          <a:xfrm>
            <a:off x="685800" y="237744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用户修改 → 偏好提取 → UserProfile → ContextAssembler 注入 → 输出更贴合 → 用户修改更少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" y="3108960"/>
            <a:ext cx="8174736" cy="41148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5" name="Text 13"/>
          <p:cNvSpPr/>
          <p:nvPr/>
        </p:nvSpPr>
        <p:spPr>
          <a:xfrm>
            <a:off x="484632" y="3108960"/>
            <a:ext cx="817473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这个闭环每转一圈，系统对这个人就好用一点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7" name="Text 1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记忆只是手段，进化才是效果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双层 Loop 六器官 · 这一章的增量</a:t>
            </a:r>
            <a:endParaRPr lang="en-US" sz="2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/>
        </p:nvGraphicFramePr>
        <p:xfrm>
          <a:off x="484632" y="749808"/>
          <a:ext cx="8174736" cy="2304288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286000"/>
                <a:gridCol w="2962656"/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器官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内层 Loop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外层 Loop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第八章新增</a:t>
                      </a:r>
                      <a:endParaRPr lang="en-US" sz="10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Ledger+rounds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会话快照+版本链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+UserProfile(L3)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动作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调模型生成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意图→动作→权限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+ContextAssembler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观察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契约检查+验收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事件流+停止报告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+3个新事件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判断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HARD全过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问人：满意吗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+晋升三判据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反馈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problems→下轮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修改→下一版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+偏好→下次prompt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停止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护栏+终态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接受/取消/过期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无新增</a:t>
                      </a:r>
                      <a:endParaRPr lang="en-US" sz="105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84632" y="329184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2"/>
          <p:cNvSpPr/>
          <p:nvPr/>
        </p:nvSpPr>
        <p:spPr>
          <a:xfrm>
            <a:off x="484632" y="329184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这一章的本质：把外层 Loop 断掉的反馈路径接上了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7" name="Text 4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信息从"用户的不满意"一路流回到"下次模型的起点"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核心判据速览 · 上下文工程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84632" y="749808"/>
            <a:ext cx="817473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C939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一条信息值不值得放进 prompt，看它会不会改变这一次的输出
</a:t>
            </a:r>
            <a:r>
              <a:rPr lang="en-US" sz="1200" dirty="0">
                <a:solidFill>
                  <a:srgbClr val="C939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Context window 是有限预算：指令 &gt; 约束 &gt; 历史 &gt; 画像
</a:t>
            </a:r>
            <a:r>
              <a:rPr lang="en-US" sz="1200" dirty="0">
                <a:solidFill>
                  <a:srgbClr val="C939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相关性过滤优先于压缩——先不放无关的
</a:t>
            </a:r>
            <a:r>
              <a:rPr lang="en-US" sz="1200" dirty="0">
                <a:solidFill>
                  <a:srgbClr val="C939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分区优先级管"放不放"，物理顺序管"放在哪"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2331720"/>
            <a:ext cx="8174736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记忆管理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4632" y="2697480"/>
            <a:ext cx="8174736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记忆是素材库，上下文是消费者
</a:t>
            </a:r>
            <a:r>
              <a:rPr lang="en-US" sz="120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频次≥3 + 方向一致 + 非上下文依赖，三条都过才算
</a:t>
            </a:r>
            <a:r>
              <a:rPr lang="en-US" sz="120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记忆最危险的属性不是记不住，是忘不掉
</a:t>
            </a:r>
            <a:r>
              <a:rPr lang="en-US" sz="1200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▸ </a:t>
            </a: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记忆不是越多越好，是越准越好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7" name="Text 5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没有被度量的收益，会被后来的人不小心还回去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核心判据速览 · 验证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1940814" cy="164592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16459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594360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成对断言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1721358" cy="11521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"记住了"和"忘掉了"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是一枚硬币的两面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2606" y="804672"/>
            <a:ext cx="1940814" cy="164592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8" name="Shape 6"/>
          <p:cNvSpPr/>
          <p:nvPr/>
        </p:nvSpPr>
        <p:spPr>
          <a:xfrm>
            <a:off x="2562606" y="804672"/>
            <a:ext cx="36576" cy="1645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9" name="Text 7"/>
          <p:cNvSpPr/>
          <p:nvPr/>
        </p:nvSpPr>
        <p:spPr>
          <a:xfrm>
            <a:off x="2672334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最危险的错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72334" y="1188720"/>
            <a:ext cx="1721358" cy="11521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"该忘的没忘"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比"该记的没记"更危险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0580" y="804672"/>
            <a:ext cx="1940814" cy="164592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12" name="Shape 10"/>
          <p:cNvSpPr/>
          <p:nvPr/>
        </p:nvSpPr>
        <p:spPr>
          <a:xfrm>
            <a:off x="4640580" y="804672"/>
            <a:ext cx="36576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4750308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第一条测试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0308" y="1188720"/>
            <a:ext cx="1721358" cy="11521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不是"记住了吗"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是"记的是不是这个人"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18554" y="804672"/>
            <a:ext cx="1940814" cy="164592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16" name="Shape 14"/>
          <p:cNvSpPr/>
          <p:nvPr/>
        </p:nvSpPr>
        <p:spPr>
          <a:xfrm>
            <a:off x="6718554" y="804672"/>
            <a:ext cx="36576" cy="164592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7" name="Text 15"/>
          <p:cNvSpPr/>
          <p:nvPr/>
        </p:nvSpPr>
        <p:spPr>
          <a:xfrm>
            <a:off x="6828282" y="914400"/>
            <a:ext cx="1721358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个性化准确率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28282" y="1188720"/>
            <a:ext cx="1721358" cy="11521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评测维度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不是可选指标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4023360"/>
            <a:ext cx="8174736" cy="50292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0" name="Text 18"/>
          <p:cNvSpPr/>
          <p:nvPr/>
        </p:nvSpPr>
        <p:spPr>
          <a:xfrm>
            <a:off x="484632" y="4023360"/>
            <a:ext cx="817473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第二种错误无法被纠正，因为用户感知不到它的存在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22" name="Text 20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验证判据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这一章的交付物 · 账单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749808"/>
            <a:ext cx="1961388" cy="73152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" name="Text 2"/>
          <p:cNvSpPr/>
          <p:nvPr/>
        </p:nvSpPr>
        <p:spPr>
          <a:xfrm>
            <a:off x="484632" y="822960"/>
            <a:ext cx="19613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39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4632" y="1161288"/>
            <a:ext cx="19613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事件类型（17→20）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55748" y="749808"/>
            <a:ext cx="1961388" cy="73152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7" name="Text 5"/>
          <p:cNvSpPr/>
          <p:nvPr/>
        </p:nvSpPr>
        <p:spPr>
          <a:xfrm>
            <a:off x="2555748" y="822960"/>
            <a:ext cx="19613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80B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55748" y="1161288"/>
            <a:ext cx="19613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评测维度（7→15）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26864" y="749808"/>
            <a:ext cx="1961388" cy="731520"/>
          </a:xfrm>
          <a:prstGeom prst="rect">
            <a:avLst/>
          </a:prstGeom>
          <a:solidFill>
            <a:srgbClr val="EAF8F1"/>
          </a:solidFill>
        </p:spPr>
      </p:sp>
      <p:sp>
        <p:nvSpPr>
          <p:cNvPr id="10" name="Text 8"/>
          <p:cNvSpPr/>
          <p:nvPr/>
        </p:nvSpPr>
        <p:spPr>
          <a:xfrm>
            <a:off x="4626864" y="822960"/>
            <a:ext cx="19613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6864" y="1161288"/>
            <a:ext cx="19613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测试（114→130）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97980" y="749808"/>
            <a:ext cx="1961388" cy="73152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13" name="Text 11"/>
          <p:cNvSpPr/>
          <p:nvPr/>
        </p:nvSpPr>
        <p:spPr>
          <a:xfrm>
            <a:off x="6697980" y="822960"/>
            <a:ext cx="196138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97980" y="1161288"/>
            <a:ext cx="1961388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评测用例（50×3）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" y="1691640"/>
            <a:ext cx="274320" cy="274320"/>
          </a:xfrm>
          <a:prstGeom prst="ellipse">
            <a:avLst/>
          </a:prstGeom>
          <a:solidFill>
            <a:srgbClr val="C9394A"/>
          </a:solidFill>
        </p:spPr>
      </p:sp>
      <p:sp>
        <p:nvSpPr>
          <p:cNvPr id="16" name="Text 14"/>
          <p:cNvSpPr/>
          <p:nvPr/>
        </p:nvSpPr>
        <p:spPr>
          <a:xfrm>
            <a:off x="484632" y="16916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1664208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四分区优先级表 + 四种压缩手段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1901952"/>
            <a:ext cx="7717536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选择性注入 / 摘要替代 / 滑动窗口 / 结构化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2295144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0" name="Text 18"/>
          <p:cNvSpPr/>
          <p:nvPr/>
        </p:nvSpPr>
        <p:spPr>
          <a:xfrm>
            <a:off x="484632" y="229514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267712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四层记忆 + 晋升遗忘机制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505456"/>
            <a:ext cx="7717536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L1工作/L2会话/L3用户/L4系统 + MemoryDecayPolicy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" y="2898648"/>
            <a:ext cx="274320" cy="27432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4" name="Text 22"/>
          <p:cNvSpPr/>
          <p:nvPr/>
        </p:nvSpPr>
        <p:spPr>
          <a:xfrm>
            <a:off x="484632" y="289864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2871216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R + S + 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108960"/>
            <a:ext cx="7717536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上下文组装 / S 偏好学习 / T 自动化评测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" y="3502152"/>
            <a:ext cx="274320" cy="27432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28" name="Text 26"/>
          <p:cNvSpPr/>
          <p:nvPr/>
        </p:nvSpPr>
        <p:spPr>
          <a:xfrm>
            <a:off x="484632" y="350215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474720"/>
            <a:ext cx="77175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预算 context.max-tokens=6000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3712464"/>
            <a:ext cx="7717536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droppedSections 让"丢了什么"可观察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32" name="Text 30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这些数字后面每一个都有判据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判据先行，实现后行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37744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23774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1097280" y="1188720"/>
            <a:ext cx="69494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判据是可以争论的，
</a:t>
            </a:r>
            <a:r>
              <a:rPr lang="en-US" sz="20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实现是不好回退的。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94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先定判据，你争论的成本是</a:t>
            </a:r>
            <a:r>
              <a:rPr lang="en-US" sz="1400" b="1" dirty="0">
                <a:solidFill>
                  <a:srgbClr val="27AE6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一次会议</a:t>
            </a: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后定判据，你争论的成本是</a:t>
            </a:r>
            <a:endParaRPr lang="en-US" sz="14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一次重构</a:t>
            </a: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" y="384048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6"/>
          <p:cNvSpPr/>
          <p:nvPr/>
        </p:nvSpPr>
        <p:spPr>
          <a:xfrm>
            <a:off x="484632" y="384048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从第5章贯穿到第8章的元原则——先立判据，再写代码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0" name="Text 8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判据先行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还缺什么 · 三个新缺口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804672"/>
            <a:ext cx="2633472" cy="219456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4" name="Shape 2"/>
          <p:cNvSpPr/>
          <p:nvPr/>
        </p:nvSpPr>
        <p:spPr>
          <a:xfrm>
            <a:off x="484632" y="804672"/>
            <a:ext cx="36576" cy="219456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5" name="Text 3"/>
          <p:cNvSpPr/>
          <p:nvPr/>
        </p:nvSpPr>
        <p:spPr>
          <a:xfrm>
            <a:off x="594360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效率与结构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2414016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四把刀串行 11秒→7秒白等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控制流藏在 if-else/while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不能审查、不能可视化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5264" y="804672"/>
            <a:ext cx="2633472" cy="2194560"/>
          </a:xfrm>
          <a:prstGeom prst="rect">
            <a:avLst/>
          </a:prstGeom>
          <a:solidFill>
            <a:srgbClr val="FEF9E8"/>
          </a:solidFill>
        </p:spPr>
      </p:sp>
      <p:sp>
        <p:nvSpPr>
          <p:cNvPr id="8" name="Shape 6"/>
          <p:cNvSpPr/>
          <p:nvPr/>
        </p:nvSpPr>
        <p:spPr>
          <a:xfrm>
            <a:off x="3255264" y="804672"/>
            <a:ext cx="36576" cy="2194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3364992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智能维度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4992" y="1188720"/>
            <a:ext cx="2414016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一个大脑做所有决定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行程/预算/安全/推荐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认知负载超单prompt极限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25896" y="804672"/>
            <a:ext cx="2633472" cy="219456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2" name="Shape 10"/>
          <p:cNvSpPr/>
          <p:nvPr/>
        </p:nvSpPr>
        <p:spPr>
          <a:xfrm>
            <a:off x="6025896" y="804672"/>
            <a:ext cx="36576" cy="21945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Text 11"/>
          <p:cNvSpPr/>
          <p:nvPr/>
        </p:nvSpPr>
        <p:spPr>
          <a:xfrm>
            <a:off x="6135624" y="914400"/>
            <a:ext cx="2414016" cy="228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生产维度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5624" y="1188720"/>
            <a:ext cx="2414016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不知道今天比昨天好多少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成本/延迟/注入攻击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能demo ≠ 能上线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246120"/>
            <a:ext cx="8174736" cy="54864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6" name="Shape 14"/>
          <p:cNvSpPr/>
          <p:nvPr/>
        </p:nvSpPr>
        <p:spPr>
          <a:xfrm>
            <a:off x="484632" y="3246120"/>
            <a:ext cx="45720" cy="54864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7" name="Text 15"/>
          <p:cNvSpPr/>
          <p:nvPr/>
        </p:nvSpPr>
        <p:spPr>
          <a:xfrm>
            <a:off x="685800" y="324612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下一章先解决第一个缺口 → 第九章：并行与图结构——Loop 是 Graph 的特例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9" name="Text 17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三个缺口留给后面的章节逐一补上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283464"/>
            <a:ext cx="81747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课后思考 · 第九章的第一道题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84632" y="786384"/>
            <a:ext cx="8174736" cy="12801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" name="Shape 2"/>
          <p:cNvSpPr/>
          <p:nvPr/>
        </p:nvSpPr>
        <p:spPr>
          <a:xfrm>
            <a:off x="484632" y="786384"/>
            <a:ext cx="45720" cy="1280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667512" y="877824"/>
            <a:ext cx="780897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留一个问题带走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" y="1133856"/>
            <a:ext cx="7808976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你们的业务里，用户哪些行为是"临时的"，哪些是"长期的"？判据是什么？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如果只能用一种手段区分，你选频次还是显式确认？为什么？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正确答案几乎总是"按记错了的代价分级"——代价大的用确认，代价小的用频次。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" y="237744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8" name="Text 6"/>
          <p:cNvSpPr/>
          <p:nvPr/>
        </p:nvSpPr>
        <p:spPr>
          <a:xfrm>
            <a:off x="484632" y="237744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第七章教你怎么让人在机器跑着的时候安全地插手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" y="2926080"/>
            <a:ext cx="8174736" cy="457200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0" name="Text 8"/>
          <p:cNvSpPr/>
          <p:nvPr/>
        </p:nvSpPr>
        <p:spPr>
          <a:xfrm>
            <a:off x="484632" y="2926080"/>
            <a:ext cx="81747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这一章教你怎么让系统从人的每一次插手里学到东西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3566160"/>
            <a:ext cx="817473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39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记忆只是手段，进化才是效果。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3931920"/>
            <a:ext cx="817473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第九章见。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654296"/>
            <a:ext cx="9144000" cy="484632"/>
          </a:xfrm>
          <a:prstGeom prst="rect">
            <a:avLst/>
          </a:prstGeom>
          <a:solidFill>
            <a:srgbClr val="C9394A"/>
          </a:solidFill>
        </p:spPr>
      </p:sp>
      <p:sp>
        <p:nvSpPr>
          <p:cNvPr id="14" name="Text 12"/>
          <p:cNvSpPr/>
          <p:nvPr/>
        </p:nvSpPr>
        <p:spPr>
          <a:xfrm>
            <a:off x="365760" y="4654296"/>
            <a:ext cx="841248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第九章：并行与图结构——Loop 是 Graph 的特例</a:t>
            </a:r>
            <a:endParaRPr lang="en-US" sz="12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PA" val="v3.0.1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commondata" val="eyJoZGlkIjoiMGRjODRhYWQxYThhYzQ5MjM3MTY5N2VkYzFjOWUzZ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13305</Words>
  <Application>WPS 演示</Application>
  <PresentationFormat>On-screen Show (16:9)</PresentationFormat>
  <Paragraphs>1481</Paragraphs>
  <Slides>56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82" baseType="lpstr">
      <vt:lpstr>Arial</vt:lpstr>
      <vt:lpstr>宋体</vt:lpstr>
      <vt:lpstr>Wingdings</vt:lpstr>
      <vt:lpstr>微软雅黑</vt:lpstr>
      <vt:lpstr>Meiryo</vt:lpstr>
      <vt:lpstr>方正兰亭黑简体</vt:lpstr>
      <vt:lpstr>微软雅黑</vt:lpstr>
      <vt:lpstr>方正雅意黑 GB18030L2</vt:lpstr>
      <vt:lpstr>微软雅黑</vt:lpstr>
      <vt:lpstr>Arial</vt:lpstr>
      <vt:lpstr>Arial</vt:lpstr>
      <vt:lpstr>Calibri</vt:lpstr>
      <vt:lpstr>Helvetica Neue</vt:lpstr>
      <vt:lpstr>Hiragino Sans</vt:lpstr>
      <vt:lpstr>宋体</vt:lpstr>
      <vt:lpstr>Arial Unicode MS</vt:lpstr>
      <vt:lpstr>等线</vt:lpstr>
      <vt:lpstr>汉仪中等线KW</vt:lpstr>
      <vt:lpstr>Courier New</vt:lpstr>
      <vt:lpstr>Courier New</vt:lpstr>
      <vt:lpstr>Courier New</vt:lpstr>
      <vt:lpstr>汉仪书宋二KW</vt:lpstr>
      <vt:lpstr>汉仪中黑KW</vt:lpstr>
      <vt:lpstr>Meiryo</vt:lpstr>
      <vt:lpstr>方正兰亭黑简体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上下文、记忆与协作——从"记得住这一次"到"记得住这个人"</dc:title>
  <dc:creator>MOOC</dc:creator>
  <dc:subject>PptxGenJS Presentation</dc:subject>
  <cp:lastModifiedBy>悠然</cp:lastModifiedBy>
  <cp:revision>15</cp:revision>
  <dcterms:created xsi:type="dcterms:W3CDTF">2026-09-03T03:41:28Z</dcterms:created>
  <dcterms:modified xsi:type="dcterms:W3CDTF">2026-09-03T03:41:28Z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2BF635AD1F9514548AF8936A8EFE5841_42</vt:lpwstr>
  </property>
  <property fmtid="{D5CDD505-2E9C-101B-9397-08002B2CF9AE}" pid="3" name="KSOProductBuildVer">
    <vt:lpwstr>2052-12.1.26046.26046</vt:lpwstr>
  </property>
</Properties>
</file>